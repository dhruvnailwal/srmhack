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mo Bold" charset="1" panose="020B0704020202020204"/>
      <p:regular r:id="rId17"/>
    </p:embeddedFont>
    <p:embeddedFont>
      <p:font typeface="Arimo" charset="1" panose="020B0604020202020204"/>
      <p:regular r:id="rId18"/>
    </p:embeddedFont>
    <p:embeddedFont>
      <p:font typeface="Calibri (MS) Bold" charset="1" panose="020F0702030404030204"/>
      <p:regular r:id="rId19"/>
    </p:embeddedFont>
    <p:embeddedFont>
      <p:font typeface="Georgia Bold" charset="1" panose="02040802050405020203"/>
      <p:regular r:id="rId20"/>
    </p:embeddedFont>
    <p:embeddedFont>
      <p:font typeface="Georgia Italics" charset="1" panose="02040502050405090303"/>
      <p:regular r:id="rId21"/>
    </p:embeddedFont>
    <p:embeddedFont>
      <p:font typeface="Calibri (MS)" charset="1" panose="020F0502020204030204"/>
      <p:regular r:id="rId22"/>
    </p:embeddedFont>
    <p:embeddedFont>
      <p:font typeface="Calibri (MS) Italics" charset="1" panose="020F05020202040A0204"/>
      <p:regular r:id="rId23"/>
    </p:embeddedFont>
    <p:embeddedFont>
      <p:font typeface="Calibri (MS) Bold Italics" charset="1" panose="020F07020304040A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Relationship Id="rId4" Target="../media/image5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1.png" Type="http://schemas.openxmlformats.org/officeDocument/2006/relationships/image"/><Relationship Id="rId4" Target="../media/image8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2.jpeg" Type="http://schemas.openxmlformats.org/officeDocument/2006/relationships/image"/><Relationship Id="rId3" Target="../media/image14.png" Type="http://schemas.openxmlformats.org/officeDocument/2006/relationships/image"/><Relationship Id="rId4" Target="../media/image17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26.png" Type="http://schemas.openxmlformats.org/officeDocument/2006/relationships/image"/><Relationship Id="rId8" Target="../media/image12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4.png" Type="http://schemas.openxmlformats.org/officeDocument/2006/relationships/image"/><Relationship Id="rId4" Target="../media/image20.png" Type="http://schemas.openxmlformats.org/officeDocument/2006/relationships/image"/><Relationship Id="rId5" Target="../media/image9.pn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Abstract background of node and mesh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848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981075"/>
            <a:ext cx="10074083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FFD21F"/>
                </a:solidFill>
                <a:latin typeface="Arimo Bold"/>
                <a:ea typeface="Arimo Bold"/>
                <a:cs typeface="Arimo Bold"/>
                <a:sym typeface="Arimo Bold"/>
              </a:rPr>
              <a:t>HACKATHON </a:t>
            </a:r>
          </a:p>
          <a:p>
            <a:pPr algn="l">
              <a:lnSpc>
                <a:spcPts val="252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977532" y="4129602"/>
            <a:ext cx="16727176" cy="5529377"/>
            <a:chOff x="0" y="0"/>
            <a:chExt cx="22302902" cy="73725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02851" cy="7372350"/>
            </a:xfrm>
            <a:custGeom>
              <a:avLst/>
              <a:gdLst/>
              <a:ahLst/>
              <a:cxnLst/>
              <a:rect r="r" b="b" t="t" l="l"/>
              <a:pathLst>
                <a:path h="7372350" w="22302851">
                  <a:moveTo>
                    <a:pt x="0" y="1228725"/>
                  </a:moveTo>
                  <a:cubicBezTo>
                    <a:pt x="0" y="550164"/>
                    <a:pt x="550164" y="0"/>
                    <a:pt x="1228725" y="0"/>
                  </a:cubicBezTo>
                  <a:lnTo>
                    <a:pt x="21074126" y="0"/>
                  </a:lnTo>
                  <a:cubicBezTo>
                    <a:pt x="21752815" y="0"/>
                    <a:pt x="22302851" y="550164"/>
                    <a:pt x="22302851" y="1228725"/>
                  </a:cubicBezTo>
                  <a:lnTo>
                    <a:pt x="22302851" y="6143625"/>
                  </a:lnTo>
                  <a:cubicBezTo>
                    <a:pt x="22302851" y="6822313"/>
                    <a:pt x="21752688" y="7372350"/>
                    <a:pt x="21074126" y="7372350"/>
                  </a:cubicBezTo>
                  <a:lnTo>
                    <a:pt x="1228725" y="7372350"/>
                  </a:lnTo>
                  <a:cubicBezTo>
                    <a:pt x="550164" y="7372477"/>
                    <a:pt x="0" y="6822313"/>
                    <a:pt x="0" y="6143752"/>
                  </a:cubicBezTo>
                  <a:close/>
                </a:path>
              </a:pathLst>
            </a:custGeom>
            <a:solidFill>
              <a:srgbClr val="06111C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568548" y="4539710"/>
            <a:ext cx="15150903" cy="427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TEAM NAME:  NOOB CODERS</a:t>
            </a:r>
          </a:p>
          <a:p>
            <a:pPr algn="l">
              <a:lnSpc>
                <a:spcPts val="864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TEAM LEADER NAME: DHRUV NAILWAL</a:t>
            </a:r>
          </a:p>
          <a:p>
            <a:pPr algn="l">
              <a:lnSpc>
                <a:spcPts val="864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INSTITUTION : DEPARTMENT OF COMPUTER SCIENCE</a:t>
            </a:r>
          </a:p>
          <a:p>
            <a:pPr algn="l">
              <a:lnSpc>
                <a:spcPts val="864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PROBLEM STATEMENT: Unseen-Customer Fraud Detection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7532" y="457136"/>
            <a:ext cx="5082042" cy="807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FFC000"/>
                </a:solidFill>
                <a:latin typeface="Arimo Bold"/>
                <a:ea typeface="Arimo Bold"/>
                <a:cs typeface="Arimo Bold"/>
                <a:sym typeface="Arimo Bold"/>
              </a:rPr>
              <a:t>WIN IF YOU CAN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828800"/>
            <a:ext cx="10241280" cy="475488"/>
            <a:chOff x="0" y="0"/>
            <a:chExt cx="13655040" cy="633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55039" cy="633984"/>
            </a:xfrm>
            <a:custGeom>
              <a:avLst/>
              <a:gdLst/>
              <a:ahLst/>
              <a:cxnLst/>
              <a:rect r="r" b="b" t="t" l="l"/>
              <a:pathLst>
                <a:path h="633984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9677" r="0" b="-36967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6550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99">
                  <a:solidFill>
                    <a:srgbClr val="2E8B8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WIN IF YOU CAN </a:t>
              </a:r>
              <a:r>
                <a:rPr lang="en-US" b="true" sz="2100" spc="399">
                  <a:solidFill>
                    <a:srgbClr val="2E8B8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HACKATHON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541270"/>
            <a:ext cx="10241280" cy="2945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24313A"/>
                </a:solidFill>
                <a:latin typeface="Georgia Bold"/>
                <a:ea typeface="Georgia Bold"/>
                <a:cs typeface="Georgia Bold"/>
                <a:sym typeface="Georgia Bold"/>
              </a:rPr>
              <a:t>Unseen-Customer</a:t>
            </a:r>
          </a:p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24313A"/>
                </a:solidFill>
                <a:latin typeface="Georgia Bold"/>
                <a:ea typeface="Georgia Bold"/>
                <a:cs typeface="Georgia Bold"/>
                <a:sym typeface="Georgia Bold"/>
              </a:rPr>
              <a:t>Fraud Detection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5656583"/>
            <a:ext cx="1122683" cy="98555"/>
            <a:chOff x="0" y="0"/>
            <a:chExt cx="149691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96949" cy="131445"/>
            </a:xfrm>
            <a:custGeom>
              <a:avLst/>
              <a:gdLst/>
              <a:ahLst/>
              <a:cxnLst/>
              <a:rect r="r" b="b" t="t" l="l"/>
              <a:pathLst>
                <a:path h="131445" w="1496949">
                  <a:moveTo>
                    <a:pt x="0" y="0"/>
                  </a:moveTo>
                  <a:lnTo>
                    <a:pt x="1496949" y="0"/>
                  </a:lnTo>
                  <a:lnTo>
                    <a:pt x="149694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914400" y="6035040"/>
            <a:ext cx="987552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i="true">
                <a:solidFill>
                  <a:srgbClr val="6E7B82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“New” must never be treated as “fraud.”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01703" y="7668263"/>
            <a:ext cx="4780283" cy="866651"/>
            <a:chOff x="0" y="0"/>
            <a:chExt cx="6373711" cy="11555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73622" cy="1155573"/>
            </a:xfrm>
            <a:custGeom>
              <a:avLst/>
              <a:gdLst/>
              <a:ahLst/>
              <a:cxnLst/>
              <a:rect r="r" b="b" t="t" l="l"/>
              <a:pathLst>
                <a:path h="1155573" w="6373622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lnTo>
                    <a:pt x="5795899" y="0"/>
                  </a:lnTo>
                  <a:cubicBezTo>
                    <a:pt x="6115050" y="0"/>
                    <a:pt x="6373622" y="258699"/>
                    <a:pt x="6373622" y="577723"/>
                  </a:cubicBezTo>
                  <a:cubicBezTo>
                    <a:pt x="6373622" y="896747"/>
                    <a:pt x="6115050" y="1155573"/>
                    <a:pt x="5795899" y="1155573"/>
                  </a:cubicBezTo>
                  <a:lnTo>
                    <a:pt x="577723" y="1155573"/>
                  </a:lnTo>
                  <a:cubicBezTo>
                    <a:pt x="258699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16736" y="7918704"/>
            <a:ext cx="365760" cy="365760"/>
            <a:chOff x="0" y="0"/>
            <a:chExt cx="487680" cy="48768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828800" y="7680960"/>
            <a:ext cx="3657600" cy="841248"/>
            <a:chOff x="0" y="0"/>
            <a:chExt cx="4876800" cy="11216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768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717" r="0" b="-3471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876800" cy="1178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NOOB CODERS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325863" y="1267463"/>
            <a:ext cx="5877563" cy="5877563"/>
            <a:chOff x="0" y="0"/>
            <a:chExt cx="7836751" cy="78367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836789" cy="7836789"/>
            </a:xfrm>
            <a:custGeom>
              <a:avLst/>
              <a:gdLst/>
              <a:ahLst/>
              <a:cxnLst/>
              <a:rect r="r" b="b" t="t" l="l"/>
              <a:pathLst>
                <a:path h="7836789" w="7836789">
                  <a:moveTo>
                    <a:pt x="0" y="3918331"/>
                  </a:moveTo>
                  <a:cubicBezTo>
                    <a:pt x="0" y="1754378"/>
                    <a:pt x="1754378" y="0"/>
                    <a:pt x="3918331" y="0"/>
                  </a:cubicBezTo>
                  <a:cubicBezTo>
                    <a:pt x="6082284" y="0"/>
                    <a:pt x="7836789" y="1754378"/>
                    <a:pt x="7836789" y="3918331"/>
                  </a:cubicBezTo>
                  <a:cubicBezTo>
                    <a:pt x="7836789" y="6082284"/>
                    <a:pt x="6082411" y="7836789"/>
                    <a:pt x="3918331" y="7836789"/>
                  </a:cubicBezTo>
                  <a:cubicBezTo>
                    <a:pt x="1754251" y="7836789"/>
                    <a:pt x="0" y="6082411"/>
                    <a:pt x="0" y="3918331"/>
                  </a:cubicBezTo>
                  <a:close/>
                </a:path>
              </a:pathLst>
            </a:custGeom>
            <a:solidFill>
              <a:srgbClr val="E1F0EE"/>
            </a:solidFill>
            <a:ln w="25400" cap="sq">
              <a:solidFill>
                <a:srgbClr val="E1F0E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4069063" y="4559303"/>
            <a:ext cx="4048763" cy="4048763"/>
            <a:chOff x="0" y="0"/>
            <a:chExt cx="5398351" cy="53983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98389" cy="5398389"/>
            </a:xfrm>
            <a:custGeom>
              <a:avLst/>
              <a:gdLst/>
              <a:ahLst/>
              <a:cxnLst/>
              <a:rect r="r" b="b" t="t" l="l"/>
              <a:pathLst>
                <a:path h="5398389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cubicBezTo>
                    <a:pt x="4189857" y="0"/>
                    <a:pt x="5398389" y="1208405"/>
                    <a:pt x="5398389" y="2699131"/>
                  </a:cubicBezTo>
                  <a:cubicBezTo>
                    <a:pt x="5398389" y="4189857"/>
                    <a:pt x="4189857" y="5398389"/>
                    <a:pt x="2699131" y="5398389"/>
                  </a:cubicBezTo>
                  <a:cubicBezTo>
                    <a:pt x="1208405" y="5398389"/>
                    <a:pt x="0" y="4189857"/>
                    <a:pt x="0" y="2699131"/>
                  </a:cubicBezTo>
                  <a:close/>
                </a:path>
              </a:pathLst>
            </a:custGeom>
            <a:solidFill>
              <a:srgbClr val="EAF0E8"/>
            </a:solidFill>
            <a:ln w="25400" cap="sq">
              <a:solidFill>
                <a:srgbClr val="EAF0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777223" y="5839463"/>
            <a:ext cx="3134363" cy="3134363"/>
            <a:chOff x="0" y="0"/>
            <a:chExt cx="4179151" cy="41791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79189" cy="4179189"/>
            </a:xfrm>
            <a:custGeom>
              <a:avLst/>
              <a:gdLst/>
              <a:ahLst/>
              <a:cxnLst/>
              <a:rect r="r" b="b" t="t" l="l"/>
              <a:pathLst>
                <a:path h="4179189" w="4179189">
                  <a:moveTo>
                    <a:pt x="0" y="2089531"/>
                  </a:moveTo>
                  <a:cubicBezTo>
                    <a:pt x="0" y="935482"/>
                    <a:pt x="935482" y="0"/>
                    <a:pt x="2089531" y="0"/>
                  </a:cubicBezTo>
                  <a:cubicBezTo>
                    <a:pt x="3243580" y="0"/>
                    <a:pt x="4179189" y="935482"/>
                    <a:pt x="4179189" y="2089531"/>
                  </a:cubicBezTo>
                  <a:cubicBezTo>
                    <a:pt x="4179189" y="3243580"/>
                    <a:pt x="3243580" y="4179189"/>
                    <a:pt x="2089531" y="4179189"/>
                  </a:cubicBezTo>
                  <a:cubicBezTo>
                    <a:pt x="935482" y="4179189"/>
                    <a:pt x="0" y="3243580"/>
                    <a:pt x="0" y="2089531"/>
                  </a:cubicBezTo>
                  <a:close/>
                </a:path>
              </a:pathLst>
            </a:custGeom>
            <a:solidFill>
              <a:srgbClr val="F8F1E7"/>
            </a:solidFill>
            <a:ln w="25400" cap="sq">
              <a:solidFill>
                <a:srgbClr val="F8F1E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697463" y="3553463"/>
            <a:ext cx="2402843" cy="2402843"/>
            <a:chOff x="0" y="0"/>
            <a:chExt cx="3203791" cy="32037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03829" cy="3203829"/>
            </a:xfrm>
            <a:custGeom>
              <a:avLst/>
              <a:gdLst/>
              <a:ahLst/>
              <a:cxnLst/>
              <a:rect r="r" b="b" t="t" l="l"/>
              <a:pathLst>
                <a:path h="3203829" w="3203829">
                  <a:moveTo>
                    <a:pt x="0" y="1601851"/>
                  </a:moveTo>
                  <a:cubicBezTo>
                    <a:pt x="0" y="717169"/>
                    <a:pt x="717169" y="0"/>
                    <a:pt x="1601851" y="0"/>
                  </a:cubicBezTo>
                  <a:cubicBezTo>
                    <a:pt x="2486533" y="0"/>
                    <a:pt x="3203829" y="717169"/>
                    <a:pt x="3203829" y="1601851"/>
                  </a:cubicBezTo>
                  <a:cubicBezTo>
                    <a:pt x="3203829" y="2486533"/>
                    <a:pt x="2486533" y="3203829"/>
                    <a:pt x="1601851" y="3203829"/>
                  </a:cubicBezTo>
                  <a:cubicBezTo>
                    <a:pt x="717169" y="3203829"/>
                    <a:pt x="0" y="2486533"/>
                    <a:pt x="0" y="1601851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363956" y="4219956"/>
            <a:ext cx="1069848" cy="1069848"/>
            <a:chOff x="0" y="0"/>
            <a:chExt cx="1426464" cy="1426464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1426464"/>
                  </a:lnTo>
                  <a:lnTo>
                    <a:pt x="0" y="1426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962762" y="1904362"/>
            <a:ext cx="3689347" cy="763267"/>
            <a:chOff x="0" y="0"/>
            <a:chExt cx="4919129" cy="10176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19218" cy="1017778"/>
            </a:xfrm>
            <a:custGeom>
              <a:avLst/>
              <a:gdLst/>
              <a:ahLst/>
              <a:cxnLst/>
              <a:rect r="r" b="b" t="t" l="l"/>
              <a:pathLst>
                <a:path h="1017778" w="4919218">
                  <a:moveTo>
                    <a:pt x="0" y="508889"/>
                  </a:moveTo>
                  <a:cubicBezTo>
                    <a:pt x="0" y="227838"/>
                    <a:pt x="227838" y="0"/>
                    <a:pt x="508889" y="0"/>
                  </a:cubicBezTo>
                  <a:lnTo>
                    <a:pt x="4410329" y="0"/>
                  </a:lnTo>
                  <a:cubicBezTo>
                    <a:pt x="4691380" y="0"/>
                    <a:pt x="4919218" y="227838"/>
                    <a:pt x="4919218" y="508889"/>
                  </a:cubicBezTo>
                  <a:cubicBezTo>
                    <a:pt x="4919218" y="789940"/>
                    <a:pt x="4691380" y="1017778"/>
                    <a:pt x="4410329" y="1017778"/>
                  </a:cubicBezTo>
                  <a:lnTo>
                    <a:pt x="508889" y="1017778"/>
                  </a:lnTo>
                  <a:cubicBezTo>
                    <a:pt x="227838" y="1017651"/>
                    <a:pt x="0" y="789813"/>
                    <a:pt x="0" y="508889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978640" y="1920240"/>
            <a:ext cx="3657600" cy="731520"/>
            <a:chOff x="0" y="0"/>
            <a:chExt cx="4876800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7680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48768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fraud probability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883002" y="7847962"/>
            <a:ext cx="3506467" cy="763267"/>
            <a:chOff x="0" y="0"/>
            <a:chExt cx="4675289" cy="101768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75378" cy="1017778"/>
            </a:xfrm>
            <a:custGeom>
              <a:avLst/>
              <a:gdLst/>
              <a:ahLst/>
              <a:cxnLst/>
              <a:rect r="r" b="b" t="t" l="l"/>
              <a:pathLst>
                <a:path h="1017778" w="4675378">
                  <a:moveTo>
                    <a:pt x="0" y="508889"/>
                  </a:moveTo>
                  <a:cubicBezTo>
                    <a:pt x="0" y="227838"/>
                    <a:pt x="227838" y="0"/>
                    <a:pt x="508889" y="0"/>
                  </a:cubicBezTo>
                  <a:lnTo>
                    <a:pt x="4166489" y="0"/>
                  </a:lnTo>
                  <a:cubicBezTo>
                    <a:pt x="4447540" y="0"/>
                    <a:pt x="4675378" y="227838"/>
                    <a:pt x="4675378" y="508889"/>
                  </a:cubicBezTo>
                  <a:cubicBezTo>
                    <a:pt x="4675378" y="789940"/>
                    <a:pt x="4447540" y="1017778"/>
                    <a:pt x="4166489" y="1017778"/>
                  </a:cubicBezTo>
                  <a:lnTo>
                    <a:pt x="508889" y="1017778"/>
                  </a:lnTo>
                  <a:cubicBezTo>
                    <a:pt x="227838" y="1017651"/>
                    <a:pt x="0" y="789813"/>
                    <a:pt x="0" y="508889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C79A5B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3898880" y="7863840"/>
            <a:ext cx="3474720" cy="731520"/>
            <a:chOff x="0" y="0"/>
            <a:chExt cx="463296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46329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novelty score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475488"/>
            <a:chOff x="0" y="0"/>
            <a:chExt cx="21945600" cy="633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945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599">
                  <a:solidFill>
                    <a:srgbClr val="2E8B8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·  THE PROBLEM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1051179"/>
            <a:ext cx="1645920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true">
                <a:solidFill>
                  <a:srgbClr val="24313A"/>
                </a:solidFill>
                <a:latin typeface="Georgia Bold"/>
                <a:ea typeface="Georgia Bold"/>
                <a:cs typeface="Georgia Bold"/>
                <a:sym typeface="Georgia Bold"/>
              </a:rPr>
              <a:t>“New” is not “fraud”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108711"/>
            <a:ext cx="1122683" cy="98555"/>
            <a:chOff x="0" y="0"/>
            <a:chExt cx="149691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96949" cy="131445"/>
            </a:xfrm>
            <a:custGeom>
              <a:avLst/>
              <a:gdLst/>
              <a:ahLst/>
              <a:cxnLst/>
              <a:rect r="r" b="b" t="t" l="l"/>
              <a:pathLst>
                <a:path h="131445" w="1496949">
                  <a:moveTo>
                    <a:pt x="0" y="0"/>
                  </a:moveTo>
                  <a:lnTo>
                    <a:pt x="1496949" y="0"/>
                  </a:lnTo>
                  <a:lnTo>
                    <a:pt x="149694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9656064"/>
            <a:ext cx="5486400" cy="365760"/>
            <a:chOff x="0" y="0"/>
            <a:chExt cx="7315200" cy="487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NOOB CODERS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2658999"/>
            <a:ext cx="6766560" cy="376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243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Never-seen customers.</a:t>
            </a:r>
            <a:r>
              <a:rPr lang="en-US" sz="2499">
                <a:solidFill>
                  <a:srgbClr val="44525A"/>
                </a:solidFill>
                <a:latin typeface="Calibri (MS)"/>
                <a:ea typeface="Calibri (MS)"/>
                <a:cs typeface="Calibri (MS)"/>
                <a:sym typeface="Calibri (MS)"/>
              </a:rPr>
              <a:t> Detection has to work when the customer has never appeared before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44525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243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Two questions, not one.</a:t>
            </a:r>
            <a:r>
              <a:rPr lang="en-US" sz="2499">
                <a:solidFill>
                  <a:srgbClr val="44525A"/>
                </a:solidFill>
                <a:latin typeface="Calibri (MS)"/>
                <a:ea typeface="Calibri (MS)"/>
                <a:cs typeface="Calibri (MS)"/>
                <a:sym typeface="Calibri (MS)"/>
              </a:rPr>
              <a:t> Is this fraud-like? Have we seen this before?</a:t>
            </a:r>
          </a:p>
          <a:p>
            <a:pPr algn="l">
              <a:lnSpc>
                <a:spcPts val="2999"/>
              </a:lnSpc>
            </a:pPr>
          </a:p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243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Judged on alert quality.</a:t>
            </a:r>
            <a:r>
              <a:rPr lang="en-US" sz="2499">
                <a:solidFill>
                  <a:srgbClr val="44525A"/>
                </a:solidFill>
                <a:latin typeface="Calibri (MS)"/>
                <a:ea typeface="Calibri (MS)"/>
                <a:cs typeface="Calibri (MS)"/>
                <a:sym typeface="Calibri (MS)"/>
              </a:rPr>
              <a:t> Precision and recall at a fixed alert budget, with known and unseen cohorts reported separately. Accuracy is not the headline metric.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04875" y="7086219"/>
            <a:ext cx="6877050" cy="2213610"/>
            <a:chOff x="0" y="0"/>
            <a:chExt cx="9169400" cy="2951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69400" cy="2951480"/>
            </a:xfrm>
            <a:custGeom>
              <a:avLst/>
              <a:gdLst/>
              <a:ahLst/>
              <a:cxnLst/>
              <a:rect r="r" b="b" t="t" l="l"/>
              <a:pathLst>
                <a:path h="2951480" w="9169400">
                  <a:moveTo>
                    <a:pt x="0" y="196723"/>
                  </a:moveTo>
                  <a:cubicBezTo>
                    <a:pt x="0" y="88138"/>
                    <a:pt x="88138" y="0"/>
                    <a:pt x="196723" y="0"/>
                  </a:cubicBezTo>
                  <a:lnTo>
                    <a:pt x="8972677" y="0"/>
                  </a:lnTo>
                  <a:cubicBezTo>
                    <a:pt x="9081262" y="0"/>
                    <a:pt x="9169400" y="88138"/>
                    <a:pt x="9169400" y="196723"/>
                  </a:cubicBezTo>
                  <a:lnTo>
                    <a:pt x="9169400" y="2754757"/>
                  </a:lnTo>
                  <a:cubicBezTo>
                    <a:pt x="9169400" y="2863469"/>
                    <a:pt x="9081262" y="2951480"/>
                    <a:pt x="8972677" y="2951480"/>
                  </a:cubicBezTo>
                  <a:lnTo>
                    <a:pt x="196723" y="2951480"/>
                  </a:lnTo>
                  <a:cubicBezTo>
                    <a:pt x="88138" y="2951480"/>
                    <a:pt x="0" y="2863342"/>
                    <a:pt x="0" y="2754757"/>
                  </a:cubicBezTo>
                  <a:close/>
                </a:path>
              </a:pathLst>
            </a:custGeom>
            <a:solidFill>
              <a:srgbClr val="F7F9F8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43584" y="7242048"/>
            <a:ext cx="5486400" cy="365760"/>
            <a:chOff x="0" y="0"/>
            <a:chExt cx="7315200" cy="487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b="true" sz="1899" spc="399">
                  <a:solidFill>
                    <a:srgbClr val="6E7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HEADLINE METRIC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0887" y="7741415"/>
            <a:ext cx="1854203" cy="574043"/>
            <a:chOff x="0" y="0"/>
            <a:chExt cx="2472271" cy="7653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72182" cy="765302"/>
            </a:xfrm>
            <a:custGeom>
              <a:avLst/>
              <a:gdLst/>
              <a:ahLst/>
              <a:cxnLst/>
              <a:rect r="r" b="b" t="t" l="l"/>
              <a:pathLst>
                <a:path h="765302" w="2472182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2089531" y="0"/>
                  </a:lnTo>
                  <a:cubicBezTo>
                    <a:pt x="2300859" y="0"/>
                    <a:pt x="2472182" y="171323"/>
                    <a:pt x="2472182" y="382651"/>
                  </a:cubicBezTo>
                  <a:cubicBezTo>
                    <a:pt x="2472182" y="593979"/>
                    <a:pt x="2300859" y="765302"/>
                    <a:pt x="2089531" y="765302"/>
                  </a:cubicBezTo>
                  <a:lnTo>
                    <a:pt x="382651" y="765302"/>
                  </a:lnTo>
                  <a:cubicBezTo>
                    <a:pt x="171323" y="765429"/>
                    <a:pt x="0" y="594106"/>
                    <a:pt x="0" y="382651"/>
                  </a:cubicBezTo>
                  <a:close/>
                </a:path>
              </a:pathLst>
            </a:custGeom>
            <a:solidFill>
              <a:srgbClr val="E3E9E7"/>
            </a:solidFill>
            <a:ln w="2540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43584" y="7754112"/>
            <a:ext cx="1828800" cy="548640"/>
            <a:chOff x="0" y="0"/>
            <a:chExt cx="24384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438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strike="sngStrike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flipV="true">
            <a:off x="3181351" y="7910723"/>
            <a:ext cx="784543" cy="98662"/>
          </a:xfrm>
          <a:prstGeom prst="line">
            <a:avLst/>
          </a:prstGeom>
          <a:ln cap="rnd" w="19050">
            <a:solidFill>
              <a:srgbClr val="6E7B82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3" id="23"/>
          <p:cNvGrpSpPr/>
          <p:nvPr/>
        </p:nvGrpSpPr>
        <p:grpSpPr>
          <a:xfrm rot="0">
            <a:off x="3919223" y="7741415"/>
            <a:ext cx="3591563" cy="574043"/>
            <a:chOff x="0" y="0"/>
            <a:chExt cx="4788751" cy="7653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88662" cy="765302"/>
            </a:xfrm>
            <a:custGeom>
              <a:avLst/>
              <a:gdLst/>
              <a:ahLst/>
              <a:cxnLst/>
              <a:rect r="r" b="b" t="t" l="l"/>
              <a:pathLst>
                <a:path h="765302" w="4788662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4406011" y="0"/>
                  </a:lnTo>
                  <a:cubicBezTo>
                    <a:pt x="4617339" y="0"/>
                    <a:pt x="4788662" y="171323"/>
                    <a:pt x="4788662" y="382651"/>
                  </a:cubicBezTo>
                  <a:cubicBezTo>
                    <a:pt x="4788662" y="593979"/>
                    <a:pt x="4617339" y="765302"/>
                    <a:pt x="4406011" y="765302"/>
                  </a:cubicBezTo>
                  <a:lnTo>
                    <a:pt x="382651" y="765302"/>
                  </a:lnTo>
                  <a:cubicBezTo>
                    <a:pt x="171323" y="765429"/>
                    <a:pt x="0" y="594106"/>
                    <a:pt x="0" y="382651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3931920" y="7754112"/>
            <a:ext cx="3566160" cy="548640"/>
            <a:chOff x="0" y="0"/>
            <a:chExt cx="475488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754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Precision / recall @ fixed alert budget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0887" y="8546087"/>
            <a:ext cx="1671323" cy="574043"/>
            <a:chOff x="0" y="0"/>
            <a:chExt cx="2228431" cy="7653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28342" cy="765302"/>
            </a:xfrm>
            <a:custGeom>
              <a:avLst/>
              <a:gdLst/>
              <a:ahLst/>
              <a:cxnLst/>
              <a:rect r="r" b="b" t="t" l="l"/>
              <a:pathLst>
                <a:path h="765302" w="2228342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1845691" y="0"/>
                  </a:lnTo>
                  <a:cubicBezTo>
                    <a:pt x="2057019" y="0"/>
                    <a:pt x="2228342" y="171323"/>
                    <a:pt x="2228342" y="382651"/>
                  </a:cubicBezTo>
                  <a:cubicBezTo>
                    <a:pt x="2228342" y="593979"/>
                    <a:pt x="2057019" y="765302"/>
                    <a:pt x="1845691" y="765302"/>
                  </a:cubicBezTo>
                  <a:lnTo>
                    <a:pt x="382651" y="765302"/>
                  </a:lnTo>
                  <a:cubicBezTo>
                    <a:pt x="171323" y="765429"/>
                    <a:pt x="0" y="594106"/>
                    <a:pt x="0" y="382651"/>
                  </a:cubicBezTo>
                  <a:close/>
                </a:path>
              </a:pathLst>
            </a:custGeom>
            <a:solidFill>
              <a:srgbClr val="EAF0E8"/>
            </a:solidFill>
            <a:ln w="25400" cap="sq">
              <a:solidFill>
                <a:srgbClr val="EAF0E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43584" y="8558784"/>
            <a:ext cx="1645920" cy="548640"/>
            <a:chOff x="0" y="0"/>
            <a:chExt cx="219456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194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5F7A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Known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059687" y="8546087"/>
            <a:ext cx="1671323" cy="574043"/>
            <a:chOff x="0" y="0"/>
            <a:chExt cx="2228431" cy="7653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28342" cy="765302"/>
            </a:xfrm>
            <a:custGeom>
              <a:avLst/>
              <a:gdLst/>
              <a:ahLst/>
              <a:cxnLst/>
              <a:rect r="r" b="b" t="t" l="l"/>
              <a:pathLst>
                <a:path h="765302" w="2228342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1845691" y="0"/>
                  </a:lnTo>
                  <a:cubicBezTo>
                    <a:pt x="2057019" y="0"/>
                    <a:pt x="2228342" y="171323"/>
                    <a:pt x="2228342" y="382651"/>
                  </a:cubicBezTo>
                  <a:cubicBezTo>
                    <a:pt x="2228342" y="593979"/>
                    <a:pt x="2057019" y="765302"/>
                    <a:pt x="1845691" y="765302"/>
                  </a:cubicBezTo>
                  <a:lnTo>
                    <a:pt x="382651" y="765302"/>
                  </a:lnTo>
                  <a:cubicBezTo>
                    <a:pt x="171323" y="765429"/>
                    <a:pt x="0" y="594106"/>
                    <a:pt x="0" y="382651"/>
                  </a:cubicBezTo>
                  <a:close/>
                </a:path>
              </a:pathLst>
            </a:custGeom>
            <a:solidFill>
              <a:srgbClr val="F8F1E7"/>
            </a:solidFill>
            <a:ln w="25400" cap="sq">
              <a:solidFill>
                <a:srgbClr val="F8F1E7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3072384" y="8558784"/>
            <a:ext cx="1645920" cy="548640"/>
            <a:chOff x="0" y="0"/>
            <a:chExt cx="219456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194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8A5A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Unseen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937760" y="8558784"/>
            <a:ext cx="2743200" cy="548640"/>
            <a:chOff x="0" y="0"/>
            <a:chExt cx="365760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657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E7B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reported separately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0075" y="2550795"/>
            <a:ext cx="4499610" cy="2853690"/>
            <a:chOff x="0" y="0"/>
            <a:chExt cx="5999480" cy="38049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99480" cy="3804920"/>
            </a:xfrm>
            <a:custGeom>
              <a:avLst/>
              <a:gdLst/>
              <a:ahLst/>
              <a:cxnLst/>
              <a:rect r="r" b="b" t="t" l="l"/>
              <a:pathLst>
                <a:path h="3804920" w="599948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5803138" y="0"/>
                  </a:lnTo>
                  <a:cubicBezTo>
                    <a:pt x="5911596" y="0"/>
                    <a:pt x="5999480" y="87884"/>
                    <a:pt x="5999480" y="196342"/>
                  </a:cubicBezTo>
                  <a:lnTo>
                    <a:pt x="5999480" y="3608578"/>
                  </a:lnTo>
                  <a:cubicBezTo>
                    <a:pt x="5999480" y="3717036"/>
                    <a:pt x="5911596" y="3804920"/>
                    <a:pt x="5803138" y="3804920"/>
                  </a:cubicBezTo>
                  <a:lnTo>
                    <a:pt x="196342" y="3804920"/>
                  </a:lnTo>
                  <a:cubicBezTo>
                    <a:pt x="87884" y="3804920"/>
                    <a:pt x="0" y="3717036"/>
                    <a:pt x="0" y="360857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8582663" y="2821943"/>
            <a:ext cx="1031243" cy="1031243"/>
            <a:chOff x="0" y="0"/>
            <a:chExt cx="1374991" cy="137499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BC6B4C"/>
            </a:solidFill>
            <a:ln w="25400" cap="sq">
              <a:solidFill>
                <a:srgbClr val="BC6B4C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8846820" y="3086100"/>
            <a:ext cx="502920" cy="502920"/>
            <a:chOff x="0" y="0"/>
            <a:chExt cx="670560" cy="670560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8595360" y="3867531"/>
            <a:ext cx="3840480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4313A"/>
                </a:solidFill>
                <a:latin typeface="Georgia Bold"/>
                <a:ea typeface="Georgia Bold"/>
                <a:cs typeface="Georgia Bold"/>
                <a:sym typeface="Georgia Bold"/>
              </a:rPr>
              <a:t>Is this</a:t>
            </a: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4313A"/>
                </a:solidFill>
                <a:latin typeface="Georgia Bold"/>
                <a:ea typeface="Georgia Bold"/>
                <a:cs typeface="Georgia Bold"/>
                <a:sym typeface="Georgia Bold"/>
              </a:rPr>
              <a:t>fraud-like?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582663" y="4888487"/>
            <a:ext cx="2768603" cy="409451"/>
            <a:chOff x="0" y="0"/>
            <a:chExt cx="3691471" cy="54593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91382" cy="545846"/>
            </a:xfrm>
            <a:custGeom>
              <a:avLst/>
              <a:gdLst/>
              <a:ahLst/>
              <a:cxnLst/>
              <a:rect r="r" b="b" t="t" l="l"/>
              <a:pathLst>
                <a:path h="545846" w="3691382">
                  <a:moveTo>
                    <a:pt x="0" y="272923"/>
                  </a:moveTo>
                  <a:cubicBezTo>
                    <a:pt x="0" y="122174"/>
                    <a:pt x="122174" y="0"/>
                    <a:pt x="272923" y="0"/>
                  </a:cubicBezTo>
                  <a:lnTo>
                    <a:pt x="3418459" y="0"/>
                  </a:lnTo>
                  <a:cubicBezTo>
                    <a:pt x="3569208" y="0"/>
                    <a:pt x="3691382" y="122174"/>
                    <a:pt x="3691382" y="272923"/>
                  </a:cubicBezTo>
                  <a:cubicBezTo>
                    <a:pt x="3691382" y="423672"/>
                    <a:pt x="3569208" y="545846"/>
                    <a:pt x="3418459" y="545846"/>
                  </a:cubicBezTo>
                  <a:lnTo>
                    <a:pt x="272923" y="545846"/>
                  </a:lnTo>
                  <a:cubicBezTo>
                    <a:pt x="122174" y="545973"/>
                    <a:pt x="0" y="423672"/>
                    <a:pt x="0" y="272923"/>
                  </a:cubicBezTo>
                  <a:close/>
                </a:path>
              </a:pathLst>
            </a:custGeom>
            <a:solidFill>
              <a:srgbClr val="F6E3DA"/>
            </a:solidFill>
            <a:ln w="25400" cap="sq">
              <a:solidFill>
                <a:srgbClr val="F6E3D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8595360" y="4901184"/>
            <a:ext cx="2743200" cy="384048"/>
            <a:chOff x="0" y="0"/>
            <a:chExt cx="3657600" cy="5120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6576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BC6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fraud probability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883515" y="2550795"/>
            <a:ext cx="4499610" cy="2853690"/>
            <a:chOff x="0" y="0"/>
            <a:chExt cx="5999480" cy="38049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999480" cy="3804920"/>
            </a:xfrm>
            <a:custGeom>
              <a:avLst/>
              <a:gdLst/>
              <a:ahLst/>
              <a:cxnLst/>
              <a:rect r="r" b="b" t="t" l="l"/>
              <a:pathLst>
                <a:path h="3804920" w="599948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5803138" y="0"/>
                  </a:lnTo>
                  <a:cubicBezTo>
                    <a:pt x="5911596" y="0"/>
                    <a:pt x="5999480" y="87884"/>
                    <a:pt x="5999480" y="196342"/>
                  </a:cubicBezTo>
                  <a:lnTo>
                    <a:pt x="5999480" y="3608578"/>
                  </a:lnTo>
                  <a:cubicBezTo>
                    <a:pt x="5999480" y="3717036"/>
                    <a:pt x="5911596" y="3804920"/>
                    <a:pt x="5803138" y="3804920"/>
                  </a:cubicBezTo>
                  <a:lnTo>
                    <a:pt x="196342" y="3804920"/>
                  </a:lnTo>
                  <a:cubicBezTo>
                    <a:pt x="87884" y="3804920"/>
                    <a:pt x="0" y="3717036"/>
                    <a:pt x="0" y="360857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3246103" y="2821943"/>
            <a:ext cx="1031243" cy="1031243"/>
            <a:chOff x="0" y="0"/>
            <a:chExt cx="1374991" cy="137499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3510260" y="3086100"/>
            <a:ext cx="502920" cy="502920"/>
            <a:chOff x="0" y="0"/>
            <a:chExt cx="670560" cy="670560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3258800" y="3867531"/>
            <a:ext cx="3840480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4313A"/>
                </a:solidFill>
                <a:latin typeface="Georgia Bold"/>
                <a:ea typeface="Georgia Bold"/>
                <a:cs typeface="Georgia Bold"/>
                <a:sym typeface="Georgia Bold"/>
              </a:rPr>
              <a:t>Seen this</a:t>
            </a: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4313A"/>
                </a:solidFill>
                <a:latin typeface="Georgia Bold"/>
                <a:ea typeface="Georgia Bold"/>
                <a:cs typeface="Georgia Bold"/>
                <a:sym typeface="Georgia Bold"/>
              </a:rPr>
              <a:t>before?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3246103" y="4888487"/>
            <a:ext cx="2768603" cy="409451"/>
            <a:chOff x="0" y="0"/>
            <a:chExt cx="3691471" cy="54593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91382" cy="545846"/>
            </a:xfrm>
            <a:custGeom>
              <a:avLst/>
              <a:gdLst/>
              <a:ahLst/>
              <a:cxnLst/>
              <a:rect r="r" b="b" t="t" l="l"/>
              <a:pathLst>
                <a:path h="545846" w="3691382">
                  <a:moveTo>
                    <a:pt x="0" y="272923"/>
                  </a:moveTo>
                  <a:cubicBezTo>
                    <a:pt x="0" y="122174"/>
                    <a:pt x="122174" y="0"/>
                    <a:pt x="272923" y="0"/>
                  </a:cubicBezTo>
                  <a:lnTo>
                    <a:pt x="3418459" y="0"/>
                  </a:lnTo>
                  <a:cubicBezTo>
                    <a:pt x="3569208" y="0"/>
                    <a:pt x="3691382" y="122174"/>
                    <a:pt x="3691382" y="272923"/>
                  </a:cubicBezTo>
                  <a:cubicBezTo>
                    <a:pt x="3691382" y="423672"/>
                    <a:pt x="3569208" y="545846"/>
                    <a:pt x="3418459" y="545846"/>
                  </a:cubicBezTo>
                  <a:lnTo>
                    <a:pt x="272923" y="545846"/>
                  </a:lnTo>
                  <a:cubicBezTo>
                    <a:pt x="122174" y="545973"/>
                    <a:pt x="0" y="423672"/>
                    <a:pt x="0" y="272923"/>
                  </a:cubicBezTo>
                  <a:close/>
                </a:path>
              </a:pathLst>
            </a:custGeom>
            <a:solidFill>
              <a:srgbClr val="E1F0EE"/>
            </a:solidFill>
            <a:ln w="25400" cap="sq">
              <a:solidFill>
                <a:srgbClr val="E1F0EE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3258800" y="4901184"/>
            <a:ext cx="2743200" cy="384048"/>
            <a:chOff x="0" y="0"/>
            <a:chExt cx="3657600" cy="5120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36576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2370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novelty score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386567" y="2181863"/>
            <a:ext cx="848363" cy="848363"/>
            <a:chOff x="0" y="0"/>
            <a:chExt cx="1131151" cy="113115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2399264" y="2194560"/>
            <a:ext cx="822960" cy="822960"/>
            <a:chOff x="0" y="0"/>
            <a:chExt cx="1097280" cy="1097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≠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229600" y="5705856"/>
            <a:ext cx="7315200" cy="365760"/>
            <a:chOff x="0" y="0"/>
            <a:chExt cx="9753600" cy="4876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75360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9753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b="true" sz="1899" spc="399">
                  <a:solidFill>
                    <a:srgbClr val="6E7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 CONSTRAINTS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220075" y="6208395"/>
            <a:ext cx="4499610" cy="1445514"/>
            <a:chOff x="0" y="0"/>
            <a:chExt cx="5999480" cy="192735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999480" cy="1927352"/>
            </a:xfrm>
            <a:custGeom>
              <a:avLst/>
              <a:gdLst/>
              <a:ahLst/>
              <a:cxnLst/>
              <a:rect r="r" b="b" t="t" l="l"/>
              <a:pathLst>
                <a:path h="1927352" w="599948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5801868" y="0"/>
                  </a:lnTo>
                  <a:cubicBezTo>
                    <a:pt x="5911088" y="0"/>
                    <a:pt x="5999480" y="88519"/>
                    <a:pt x="5999480" y="197612"/>
                  </a:cubicBezTo>
                  <a:lnTo>
                    <a:pt x="5999480" y="1729740"/>
                  </a:lnTo>
                  <a:cubicBezTo>
                    <a:pt x="5999480" y="1838960"/>
                    <a:pt x="5910961" y="1927352"/>
                    <a:pt x="5801868" y="1927352"/>
                  </a:cubicBezTo>
                  <a:lnTo>
                    <a:pt x="197612" y="1927352"/>
                  </a:lnTo>
                  <a:cubicBezTo>
                    <a:pt x="88519" y="1927352"/>
                    <a:pt x="0" y="1838833"/>
                    <a:pt x="0" y="17297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8436359" y="6461255"/>
            <a:ext cx="939803" cy="939803"/>
            <a:chOff x="0" y="0"/>
            <a:chExt cx="1253071" cy="125307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8677656" y="6702552"/>
            <a:ext cx="457200" cy="457200"/>
            <a:chOff x="0" y="0"/>
            <a:chExt cx="609600" cy="609600"/>
          </a:xfrm>
        </p:grpSpPr>
        <p:sp>
          <p:nvSpPr>
            <p:cNvPr name="Freeform 78" id="78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546336" y="6217920"/>
            <a:ext cx="3108960" cy="1426464"/>
            <a:chOff x="0" y="0"/>
            <a:chExt cx="4145280" cy="19019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145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868" t="0" r="-8868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4145280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Streaming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arrives continuously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883515" y="6208395"/>
            <a:ext cx="4499610" cy="1445514"/>
            <a:chOff x="0" y="0"/>
            <a:chExt cx="5999480" cy="19273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999480" cy="1927352"/>
            </a:xfrm>
            <a:custGeom>
              <a:avLst/>
              <a:gdLst/>
              <a:ahLst/>
              <a:cxnLst/>
              <a:rect r="r" b="b" t="t" l="l"/>
              <a:pathLst>
                <a:path h="1927352" w="599948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5801868" y="0"/>
                  </a:lnTo>
                  <a:cubicBezTo>
                    <a:pt x="5911088" y="0"/>
                    <a:pt x="5999480" y="88519"/>
                    <a:pt x="5999480" y="197612"/>
                  </a:cubicBezTo>
                  <a:lnTo>
                    <a:pt x="5999480" y="1729740"/>
                  </a:lnTo>
                  <a:cubicBezTo>
                    <a:pt x="5999480" y="1838960"/>
                    <a:pt x="5910961" y="1927352"/>
                    <a:pt x="5801868" y="1927352"/>
                  </a:cubicBezTo>
                  <a:lnTo>
                    <a:pt x="197612" y="1927352"/>
                  </a:lnTo>
                  <a:cubicBezTo>
                    <a:pt x="88519" y="1927352"/>
                    <a:pt x="0" y="1838833"/>
                    <a:pt x="0" y="17297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3099799" y="6461255"/>
            <a:ext cx="939803" cy="939803"/>
            <a:chOff x="0" y="0"/>
            <a:chExt cx="1253071" cy="125307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5F7A5C"/>
            </a:solidFill>
            <a:ln w="25400" cap="sq">
              <a:solidFill>
                <a:srgbClr val="5F7A5C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3341096" y="6702552"/>
            <a:ext cx="457200" cy="457200"/>
            <a:chOff x="0" y="0"/>
            <a:chExt cx="609600" cy="609600"/>
          </a:xfrm>
        </p:grpSpPr>
        <p:sp>
          <p:nvSpPr>
            <p:cNvPr name="Freeform 87" id="87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4209776" y="6217920"/>
            <a:ext cx="3108960" cy="1426464"/>
            <a:chOff x="0" y="0"/>
            <a:chExt cx="4145280" cy="190195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145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868" t="0" r="-8868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4145280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One-pass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 each transaction once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8220075" y="7817739"/>
            <a:ext cx="4499610" cy="1445514"/>
            <a:chOff x="0" y="0"/>
            <a:chExt cx="5999480" cy="192735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999480" cy="1927352"/>
            </a:xfrm>
            <a:custGeom>
              <a:avLst/>
              <a:gdLst/>
              <a:ahLst/>
              <a:cxnLst/>
              <a:rect r="r" b="b" t="t" l="l"/>
              <a:pathLst>
                <a:path h="1927352" w="599948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5801868" y="0"/>
                  </a:lnTo>
                  <a:cubicBezTo>
                    <a:pt x="5911088" y="0"/>
                    <a:pt x="5999480" y="88519"/>
                    <a:pt x="5999480" y="197612"/>
                  </a:cubicBezTo>
                  <a:lnTo>
                    <a:pt x="5999480" y="1729740"/>
                  </a:lnTo>
                  <a:cubicBezTo>
                    <a:pt x="5999480" y="1838960"/>
                    <a:pt x="5910961" y="1927352"/>
                    <a:pt x="5801868" y="1927352"/>
                  </a:cubicBezTo>
                  <a:lnTo>
                    <a:pt x="197612" y="1927352"/>
                  </a:lnTo>
                  <a:cubicBezTo>
                    <a:pt x="88519" y="1927352"/>
                    <a:pt x="0" y="1838833"/>
                    <a:pt x="0" y="17297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8436359" y="8070599"/>
            <a:ext cx="939803" cy="939803"/>
            <a:chOff x="0" y="0"/>
            <a:chExt cx="1253071" cy="125307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C79A5B"/>
            </a:solidFill>
            <a:ln w="25400" cap="sq">
              <a:solidFill>
                <a:srgbClr val="C79A5B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8677656" y="8311896"/>
            <a:ext cx="457200" cy="457200"/>
            <a:chOff x="0" y="0"/>
            <a:chExt cx="609600" cy="609600"/>
          </a:xfrm>
        </p:grpSpPr>
        <p:sp>
          <p:nvSpPr>
            <p:cNvPr name="Freeform 96" id="96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546336" y="7827264"/>
            <a:ext cx="3108960" cy="1426464"/>
            <a:chOff x="0" y="0"/>
            <a:chExt cx="4145280" cy="190195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145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868" t="0" r="-8868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4145280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 budget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Alert volume is capped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2883515" y="7817739"/>
            <a:ext cx="4499610" cy="1445514"/>
            <a:chOff x="0" y="0"/>
            <a:chExt cx="5999480" cy="192735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999480" cy="1927352"/>
            </a:xfrm>
            <a:custGeom>
              <a:avLst/>
              <a:gdLst/>
              <a:ahLst/>
              <a:cxnLst/>
              <a:rect r="r" b="b" t="t" l="l"/>
              <a:pathLst>
                <a:path h="1927352" w="599948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5801868" y="0"/>
                  </a:lnTo>
                  <a:cubicBezTo>
                    <a:pt x="5911088" y="0"/>
                    <a:pt x="5999480" y="88519"/>
                    <a:pt x="5999480" y="197612"/>
                  </a:cubicBezTo>
                  <a:lnTo>
                    <a:pt x="5999480" y="1729740"/>
                  </a:lnTo>
                  <a:cubicBezTo>
                    <a:pt x="5999480" y="1838960"/>
                    <a:pt x="5910961" y="1927352"/>
                    <a:pt x="5801868" y="1927352"/>
                  </a:cubicBezTo>
                  <a:lnTo>
                    <a:pt x="197612" y="1927352"/>
                  </a:lnTo>
                  <a:cubicBezTo>
                    <a:pt x="88519" y="1927352"/>
                    <a:pt x="0" y="1838833"/>
                    <a:pt x="0" y="17297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3099799" y="8070599"/>
            <a:ext cx="939803" cy="939803"/>
            <a:chOff x="0" y="0"/>
            <a:chExt cx="1253071" cy="125307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BC6B4C"/>
            </a:solidFill>
            <a:ln w="25400" cap="sq">
              <a:solidFill>
                <a:srgbClr val="BC6B4C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13341096" y="8311896"/>
            <a:ext cx="457200" cy="457200"/>
            <a:chOff x="0" y="0"/>
            <a:chExt cx="609600" cy="609600"/>
          </a:xfrm>
        </p:grpSpPr>
        <p:sp>
          <p:nvSpPr>
            <p:cNvPr name="Freeform 105" id="105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4209776" y="7827264"/>
            <a:ext cx="3108960" cy="1426464"/>
            <a:chOff x="0" y="0"/>
            <a:chExt cx="4145280" cy="190195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145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868" t="0" r="-8868" b="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4145280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Plain language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Explanation on every call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475488"/>
            <a:chOff x="0" y="0"/>
            <a:chExt cx="21945600" cy="633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945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599">
                  <a:solidFill>
                    <a:srgbClr val="2E8B8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·  THE SOLUTION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1051179"/>
            <a:ext cx="1645920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true">
                <a:solidFill>
                  <a:srgbClr val="24313A"/>
                </a:solidFill>
                <a:latin typeface="Georgia Bold"/>
                <a:ea typeface="Georgia Bold"/>
                <a:cs typeface="Georgia Bold"/>
                <a:sym typeface="Georgia Bold"/>
              </a:rPr>
              <a:t>Two signals, one safe decision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108711"/>
            <a:ext cx="1122683" cy="98555"/>
            <a:chOff x="0" y="0"/>
            <a:chExt cx="149691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96949" cy="131445"/>
            </a:xfrm>
            <a:custGeom>
              <a:avLst/>
              <a:gdLst/>
              <a:ahLst/>
              <a:cxnLst/>
              <a:rect r="r" b="b" t="t" l="l"/>
              <a:pathLst>
                <a:path h="131445" w="1496949">
                  <a:moveTo>
                    <a:pt x="0" y="0"/>
                  </a:moveTo>
                  <a:lnTo>
                    <a:pt x="1496949" y="0"/>
                  </a:lnTo>
                  <a:lnTo>
                    <a:pt x="149694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9656064"/>
            <a:ext cx="5486400" cy="365760"/>
            <a:chOff x="0" y="0"/>
            <a:chExt cx="7315200" cy="487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NOOB CODERS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910715" y="2642235"/>
            <a:ext cx="3950970" cy="2853690"/>
            <a:chOff x="0" y="0"/>
            <a:chExt cx="5267960" cy="3804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67960" cy="3804920"/>
            </a:xfrm>
            <a:custGeom>
              <a:avLst/>
              <a:gdLst/>
              <a:ahLst/>
              <a:cxnLst/>
              <a:rect r="r" b="b" t="t" l="l"/>
              <a:pathLst>
                <a:path h="3804920" w="526796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5071618" y="0"/>
                  </a:lnTo>
                  <a:cubicBezTo>
                    <a:pt x="5180076" y="0"/>
                    <a:pt x="5267960" y="87884"/>
                    <a:pt x="5267960" y="196342"/>
                  </a:cubicBezTo>
                  <a:lnTo>
                    <a:pt x="5267960" y="3608578"/>
                  </a:lnTo>
                  <a:cubicBezTo>
                    <a:pt x="5267960" y="3717036"/>
                    <a:pt x="5180076" y="3804920"/>
                    <a:pt x="5071618" y="3804920"/>
                  </a:cubicBezTo>
                  <a:lnTo>
                    <a:pt x="196342" y="3804920"/>
                  </a:lnTo>
                  <a:cubicBezTo>
                    <a:pt x="87884" y="3804920"/>
                    <a:pt x="0" y="3717036"/>
                    <a:pt x="0" y="3608578"/>
                  </a:cubicBezTo>
                  <a:close/>
                </a:path>
              </a:pathLst>
            </a:custGeom>
            <a:solidFill>
              <a:srgbClr val="F8F1E7"/>
            </a:solidFill>
            <a:ln w="19050" cap="sq">
              <a:solidFill>
                <a:srgbClr val="C79A5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286000" y="3017520"/>
            <a:ext cx="3200400" cy="640080"/>
            <a:chOff x="0" y="0"/>
            <a:chExt cx="426720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67200" cy="853440"/>
            </a:xfrm>
            <a:custGeom>
              <a:avLst/>
              <a:gdLst/>
              <a:ahLst/>
              <a:cxnLst/>
              <a:rect r="r" b="b" t="t" l="l"/>
              <a:pathLst>
                <a:path h="8534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2672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A5A2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Escalate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286000" y="4389120"/>
            <a:ext cx="585216" cy="585216"/>
            <a:chOff x="0" y="0"/>
            <a:chExt cx="780288" cy="780288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025515" y="2642235"/>
            <a:ext cx="3950970" cy="2853690"/>
            <a:chOff x="0" y="0"/>
            <a:chExt cx="5267960" cy="3804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67960" cy="3804920"/>
            </a:xfrm>
            <a:custGeom>
              <a:avLst/>
              <a:gdLst/>
              <a:ahLst/>
              <a:cxnLst/>
              <a:rect r="r" b="b" t="t" l="l"/>
              <a:pathLst>
                <a:path h="3804920" w="526796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5071618" y="0"/>
                  </a:lnTo>
                  <a:cubicBezTo>
                    <a:pt x="5180076" y="0"/>
                    <a:pt x="5267960" y="87884"/>
                    <a:pt x="5267960" y="196342"/>
                  </a:cubicBezTo>
                  <a:lnTo>
                    <a:pt x="5267960" y="3608578"/>
                  </a:lnTo>
                  <a:cubicBezTo>
                    <a:pt x="5267960" y="3717036"/>
                    <a:pt x="5180076" y="3804920"/>
                    <a:pt x="5071618" y="3804920"/>
                  </a:cubicBezTo>
                  <a:lnTo>
                    <a:pt x="196342" y="3804920"/>
                  </a:lnTo>
                  <a:cubicBezTo>
                    <a:pt x="87884" y="3804920"/>
                    <a:pt x="0" y="3717036"/>
                    <a:pt x="0" y="3608578"/>
                  </a:cubicBezTo>
                  <a:close/>
                </a:path>
              </a:pathLst>
            </a:custGeom>
            <a:solidFill>
              <a:srgbClr val="BC6B4C"/>
            </a:solidFill>
            <a:ln w="19050" cap="sq">
              <a:solidFill>
                <a:srgbClr val="BC6B4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400800" y="3017520"/>
            <a:ext cx="3200400" cy="640080"/>
            <a:chOff x="0" y="0"/>
            <a:chExt cx="426720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7200" cy="853440"/>
            </a:xfrm>
            <a:custGeom>
              <a:avLst/>
              <a:gdLst/>
              <a:ahLst/>
              <a:cxnLst/>
              <a:rect r="r" b="b" t="t" l="l"/>
              <a:pathLst>
                <a:path h="8534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2672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Highest risk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00800" y="4389120"/>
            <a:ext cx="585216" cy="585216"/>
            <a:chOff x="0" y="0"/>
            <a:chExt cx="780288" cy="780288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910715" y="5659755"/>
            <a:ext cx="3950970" cy="2853690"/>
            <a:chOff x="0" y="0"/>
            <a:chExt cx="5267960" cy="3804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67960" cy="3804920"/>
            </a:xfrm>
            <a:custGeom>
              <a:avLst/>
              <a:gdLst/>
              <a:ahLst/>
              <a:cxnLst/>
              <a:rect r="r" b="b" t="t" l="l"/>
              <a:pathLst>
                <a:path h="3804920" w="526796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5071618" y="0"/>
                  </a:lnTo>
                  <a:cubicBezTo>
                    <a:pt x="5180076" y="0"/>
                    <a:pt x="5267960" y="87884"/>
                    <a:pt x="5267960" y="196342"/>
                  </a:cubicBezTo>
                  <a:lnTo>
                    <a:pt x="5267960" y="3608578"/>
                  </a:lnTo>
                  <a:cubicBezTo>
                    <a:pt x="5267960" y="3717036"/>
                    <a:pt x="5180076" y="3804920"/>
                    <a:pt x="5071618" y="3804920"/>
                  </a:cubicBezTo>
                  <a:lnTo>
                    <a:pt x="196342" y="3804920"/>
                  </a:lnTo>
                  <a:cubicBezTo>
                    <a:pt x="87884" y="3804920"/>
                    <a:pt x="0" y="3717036"/>
                    <a:pt x="0" y="3608578"/>
                  </a:cubicBezTo>
                  <a:close/>
                </a:path>
              </a:pathLst>
            </a:custGeom>
            <a:solidFill>
              <a:srgbClr val="EAF0E8"/>
            </a:solidFill>
            <a:ln w="19050" cap="sq">
              <a:solidFill>
                <a:srgbClr val="EAF0E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2286000" y="6035040"/>
            <a:ext cx="3200400" cy="640080"/>
            <a:chOff x="0" y="0"/>
            <a:chExt cx="4267200" cy="853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67200" cy="853440"/>
            </a:xfrm>
            <a:custGeom>
              <a:avLst/>
              <a:gdLst/>
              <a:ahLst/>
              <a:cxnLst/>
              <a:rect r="r" b="b" t="t" l="l"/>
              <a:pathLst>
                <a:path h="8534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2672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5F7A5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Normal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286000" y="7406640"/>
            <a:ext cx="585216" cy="585216"/>
            <a:chOff x="0" y="0"/>
            <a:chExt cx="780288" cy="780288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025515" y="5659755"/>
            <a:ext cx="3950970" cy="2853690"/>
            <a:chOff x="0" y="0"/>
            <a:chExt cx="5267960" cy="3804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67960" cy="3804920"/>
            </a:xfrm>
            <a:custGeom>
              <a:avLst/>
              <a:gdLst/>
              <a:ahLst/>
              <a:cxnLst/>
              <a:rect r="r" b="b" t="t" l="l"/>
              <a:pathLst>
                <a:path h="3804920" w="526796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5071618" y="0"/>
                  </a:lnTo>
                  <a:cubicBezTo>
                    <a:pt x="5180076" y="0"/>
                    <a:pt x="5267960" y="87884"/>
                    <a:pt x="5267960" y="196342"/>
                  </a:cubicBezTo>
                  <a:lnTo>
                    <a:pt x="5267960" y="3608578"/>
                  </a:lnTo>
                  <a:cubicBezTo>
                    <a:pt x="5267960" y="3717036"/>
                    <a:pt x="5180076" y="3804920"/>
                    <a:pt x="5071618" y="3804920"/>
                  </a:cubicBezTo>
                  <a:lnTo>
                    <a:pt x="196342" y="3804920"/>
                  </a:lnTo>
                  <a:cubicBezTo>
                    <a:pt x="87884" y="3804920"/>
                    <a:pt x="0" y="3717036"/>
                    <a:pt x="0" y="3608578"/>
                  </a:cubicBezTo>
                  <a:close/>
                </a:path>
              </a:pathLst>
            </a:custGeom>
            <a:solidFill>
              <a:srgbClr val="E1F0EE"/>
            </a:solidFill>
            <a:ln w="19050" cap="sq">
              <a:solidFill>
                <a:srgbClr val="E1F0EE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400800" y="6035040"/>
            <a:ext cx="3200400" cy="640080"/>
            <a:chOff x="0" y="0"/>
            <a:chExt cx="426720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67200" cy="853440"/>
            </a:xfrm>
            <a:custGeom>
              <a:avLst/>
              <a:gdLst/>
              <a:ahLst/>
              <a:cxnLst/>
              <a:rect r="r" b="b" t="t" l="l"/>
              <a:pathLst>
                <a:path h="8534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42672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3706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No escalation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400800" y="7406640"/>
            <a:ext cx="585216" cy="585216"/>
            <a:chOff x="0" y="0"/>
            <a:chExt cx="780288" cy="780288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920240" y="8650224"/>
            <a:ext cx="8046720" cy="402336"/>
            <a:chOff x="0" y="0"/>
            <a:chExt cx="10728960" cy="5364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28960" cy="536448"/>
            </a:xfrm>
            <a:custGeom>
              <a:avLst/>
              <a:gdLst/>
              <a:ahLst/>
              <a:cxnLst/>
              <a:rect r="r" b="b" t="t" l="l"/>
              <a:pathLst>
                <a:path h="53644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07289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6E7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Novelty  →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-5400000">
            <a:off x="-1097280" y="5340096"/>
            <a:ext cx="5120640" cy="475488"/>
            <a:chOff x="0" y="0"/>
            <a:chExt cx="6827520" cy="63398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27520" cy="633984"/>
            </a:xfrm>
            <a:custGeom>
              <a:avLst/>
              <a:gdLst/>
              <a:ahLst/>
              <a:cxnLst/>
              <a:rect r="r" b="b" t="t" l="l"/>
              <a:pathLst>
                <a:path h="63398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838" r="0" b="-15983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68275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6E7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Fraud probability  →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795387" y="2282190"/>
            <a:ext cx="6400800" cy="365760"/>
            <a:chOff x="0" y="0"/>
            <a:chExt cx="8534400" cy="4876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534400" cy="487680"/>
            </a:xfrm>
            <a:custGeom>
              <a:avLst/>
              <a:gdLst/>
              <a:ahLst/>
              <a:cxnLst/>
              <a:rect r="r" b="b" t="t" l="l"/>
              <a:pathLst>
                <a:path h="4876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534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b="true" sz="1899" spc="399">
                  <a:solidFill>
                    <a:srgbClr val="6E7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SIGNALS &amp; GUARDRAILS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0464422" y="2847594"/>
            <a:ext cx="6492240" cy="4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243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Calibrated fraud probability.</a:t>
            </a:r>
            <a:r>
              <a:rPr lang="en-US" sz="2400">
                <a:solidFill>
                  <a:srgbClr val="44525A"/>
                </a:solidFill>
                <a:latin typeface="Calibri (MS)"/>
                <a:ea typeface="Calibri (MS)"/>
                <a:cs typeface="Calibri (MS)"/>
                <a:sym typeface="Calibri (MS)"/>
              </a:rPr>
              <a:t> LightGBM with isotonic calibration.</a:t>
            </a:r>
          </a:p>
          <a:p>
            <a:pPr algn="l">
              <a:lnSpc>
                <a:spcPts val="2879"/>
              </a:lnSpc>
            </a:pP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243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Identity-free novelty score.</a:t>
            </a:r>
            <a:r>
              <a:rPr lang="en-US" sz="2400">
                <a:solidFill>
                  <a:srgbClr val="44525A"/>
                </a:solidFill>
                <a:latin typeface="Calibri (MS)"/>
                <a:ea typeface="Calibri (MS)"/>
                <a:cs typeface="Calibri (MS)"/>
                <a:sym typeface="Calibri (MS)"/>
              </a:rPr>
              <a:t> IsolationForest with an ECDF.</a:t>
            </a:r>
          </a:p>
          <a:p>
            <a:pPr algn="l">
              <a:lnSpc>
                <a:spcPts val="2879"/>
              </a:lnSpc>
            </a:pP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243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Novelty alone never escalates.</a:t>
            </a:r>
            <a:r>
              <a:rPr lang="en-US" sz="2400">
                <a:solidFill>
                  <a:srgbClr val="44525A"/>
                </a:solidFill>
                <a:latin typeface="Calibri (MS)"/>
                <a:ea typeface="Calibri (MS)"/>
                <a:cs typeface="Calibri (MS)"/>
                <a:sym typeface="Calibri (MS)"/>
              </a:rPr>
              <a:t> A probability floor (p ≥ p_floor) is required.</a:t>
            </a:r>
          </a:p>
          <a:p>
            <a:pPr algn="l">
              <a:lnSpc>
                <a:spcPts val="2879"/>
              </a:lnSpc>
            </a:pP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243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Budget-controlled.</a:t>
            </a:r>
            <a:r>
              <a:rPr lang="en-US" sz="2400">
                <a:solidFill>
                  <a:srgbClr val="44525A"/>
                </a:solidFill>
                <a:latin typeface="Calibri (MS)"/>
                <a:ea typeface="Calibri (MS)"/>
                <a:cs typeface="Calibri (MS)"/>
                <a:sym typeface="Calibri (MS)"/>
              </a:rPr>
              <a:t> A controller hard-caps review and high-risk volume; every call carries plain-language factors.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0881360" y="7552944"/>
            <a:ext cx="5486400" cy="365760"/>
            <a:chOff x="0" y="0"/>
            <a:chExt cx="7315200" cy="4876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b="true" sz="1899" spc="399">
                  <a:solidFill>
                    <a:srgbClr val="6E7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 TRANSACTION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 rot="31560">
            <a:off x="11313043" y="8220075"/>
            <a:ext cx="5537435" cy="0"/>
          </a:xfrm>
          <a:prstGeom prst="line">
            <a:avLst/>
          </a:prstGeom>
          <a:ln cap="rnd" w="19050">
            <a:solidFill>
              <a:srgbClr val="E3E9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11014967" y="7906007"/>
            <a:ext cx="647195" cy="647195"/>
            <a:chOff x="0" y="0"/>
            <a:chExt cx="862927" cy="86292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62965" cy="862965"/>
            </a:xfrm>
            <a:custGeom>
              <a:avLst/>
              <a:gdLst/>
              <a:ahLst/>
              <a:cxnLst/>
              <a:rect r="r" b="b" t="t" l="l"/>
              <a:pathLst>
                <a:path h="862965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027664" y="7918704"/>
            <a:ext cx="621792" cy="621792"/>
            <a:chOff x="0" y="0"/>
            <a:chExt cx="829056" cy="8290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607040" y="8650224"/>
            <a:ext cx="1463040" cy="365760"/>
            <a:chOff x="0" y="0"/>
            <a:chExt cx="1950720" cy="4876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950720" cy="487680"/>
            </a:xfrm>
            <a:custGeom>
              <a:avLst/>
              <a:gdLst/>
              <a:ahLst/>
              <a:cxnLst/>
              <a:rect r="r" b="b" t="t" l="l"/>
              <a:pathLst>
                <a:path h="48768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9507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2431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386567" y="7906007"/>
            <a:ext cx="647195" cy="647195"/>
            <a:chOff x="0" y="0"/>
            <a:chExt cx="862927" cy="86292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62965" cy="862965"/>
            </a:xfrm>
            <a:custGeom>
              <a:avLst/>
              <a:gdLst/>
              <a:ahLst/>
              <a:cxnLst/>
              <a:rect r="r" b="b" t="t" l="l"/>
              <a:pathLst>
                <a:path h="862965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2399264" y="7918704"/>
            <a:ext cx="621792" cy="621792"/>
            <a:chOff x="0" y="0"/>
            <a:chExt cx="829056" cy="82905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978640" y="8650224"/>
            <a:ext cx="1463040" cy="365760"/>
            <a:chOff x="0" y="0"/>
            <a:chExt cx="1950720" cy="4876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950720" cy="487680"/>
            </a:xfrm>
            <a:custGeom>
              <a:avLst/>
              <a:gdLst/>
              <a:ahLst/>
              <a:cxnLst/>
              <a:rect r="r" b="b" t="t" l="l"/>
              <a:pathLst>
                <a:path h="48768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9507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2431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758167" y="7906007"/>
            <a:ext cx="647195" cy="647195"/>
            <a:chOff x="0" y="0"/>
            <a:chExt cx="862927" cy="86292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62965" cy="862965"/>
            </a:xfrm>
            <a:custGeom>
              <a:avLst/>
              <a:gdLst/>
              <a:ahLst/>
              <a:cxnLst/>
              <a:rect r="r" b="b" t="t" l="l"/>
              <a:pathLst>
                <a:path h="862965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3770864" y="7918704"/>
            <a:ext cx="621792" cy="621792"/>
            <a:chOff x="0" y="0"/>
            <a:chExt cx="829056" cy="8290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350240" y="8650224"/>
            <a:ext cx="1463040" cy="365760"/>
            <a:chOff x="0" y="0"/>
            <a:chExt cx="1950720" cy="4876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950720" cy="487680"/>
            </a:xfrm>
            <a:custGeom>
              <a:avLst/>
              <a:gdLst/>
              <a:ahLst/>
              <a:cxnLst/>
              <a:rect r="r" b="b" t="t" l="l"/>
              <a:pathLst>
                <a:path h="48768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9507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2431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5129767" y="7906007"/>
            <a:ext cx="647195" cy="647195"/>
            <a:chOff x="0" y="0"/>
            <a:chExt cx="862927" cy="86292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62965" cy="862965"/>
            </a:xfrm>
            <a:custGeom>
              <a:avLst/>
              <a:gdLst/>
              <a:ahLst/>
              <a:cxnLst/>
              <a:rect r="r" b="b" t="t" l="l"/>
              <a:pathLst>
                <a:path h="862965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5142464" y="7918704"/>
            <a:ext cx="621792" cy="621792"/>
            <a:chOff x="0" y="0"/>
            <a:chExt cx="829056" cy="82905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4721840" y="8650224"/>
            <a:ext cx="1463040" cy="365760"/>
            <a:chOff x="0" y="0"/>
            <a:chExt cx="1950720" cy="4876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950720" cy="487680"/>
            </a:xfrm>
            <a:custGeom>
              <a:avLst/>
              <a:gdLst/>
              <a:ahLst/>
              <a:cxnLst/>
              <a:rect r="r" b="b" t="t" l="l"/>
              <a:pathLst>
                <a:path h="48768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9507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2431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Band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6501367" y="7906007"/>
            <a:ext cx="647195" cy="647195"/>
            <a:chOff x="0" y="0"/>
            <a:chExt cx="862927" cy="86292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62965" cy="862965"/>
            </a:xfrm>
            <a:custGeom>
              <a:avLst/>
              <a:gdLst/>
              <a:ahLst/>
              <a:cxnLst/>
              <a:rect r="r" b="b" t="t" l="l"/>
              <a:pathLst>
                <a:path h="862965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BC6B4C"/>
            </a:solidFill>
            <a:ln w="25400" cap="sq">
              <a:solidFill>
                <a:srgbClr val="BC6B4C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6514064" y="7918704"/>
            <a:ext cx="621792" cy="621792"/>
            <a:chOff x="0" y="0"/>
            <a:chExt cx="829056" cy="82905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6093440" y="8650224"/>
            <a:ext cx="1463040" cy="365760"/>
            <a:chOff x="0" y="0"/>
            <a:chExt cx="1950720" cy="4876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950720" cy="487680"/>
            </a:xfrm>
            <a:custGeom>
              <a:avLst/>
              <a:gdLst/>
              <a:ahLst/>
              <a:cxnLst/>
              <a:rect r="r" b="b" t="t" l="l"/>
              <a:pathLst>
                <a:path h="48768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9507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2431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Commit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475488"/>
            <a:chOff x="0" y="0"/>
            <a:chExt cx="21945600" cy="633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945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599">
                  <a:solidFill>
                    <a:srgbClr val="2E8B8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·  HOW IT’S BUILT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1051179"/>
            <a:ext cx="1645920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true">
                <a:solidFill>
                  <a:srgbClr val="24313A"/>
                </a:solidFill>
                <a:latin typeface="Georgia Bold"/>
                <a:ea typeface="Georgia Bold"/>
                <a:cs typeface="Georgia Bold"/>
                <a:sym typeface="Georgia Bold"/>
              </a:rPr>
              <a:t>One engine, leakage-safe by construction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108711"/>
            <a:ext cx="1122683" cy="98555"/>
            <a:chOff x="0" y="0"/>
            <a:chExt cx="149691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96949" cy="131445"/>
            </a:xfrm>
            <a:custGeom>
              <a:avLst/>
              <a:gdLst/>
              <a:ahLst/>
              <a:cxnLst/>
              <a:rect r="r" b="b" t="t" l="l"/>
              <a:pathLst>
                <a:path h="131445" w="1496949">
                  <a:moveTo>
                    <a:pt x="0" y="0"/>
                  </a:moveTo>
                  <a:lnTo>
                    <a:pt x="1496949" y="0"/>
                  </a:lnTo>
                  <a:lnTo>
                    <a:pt x="149694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9656064"/>
            <a:ext cx="5486400" cy="365760"/>
            <a:chOff x="0" y="0"/>
            <a:chExt cx="7315200" cy="487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NOOB CODERS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2560320"/>
            <a:ext cx="7315200" cy="365760"/>
            <a:chOff x="0" y="0"/>
            <a:chExt cx="9753600" cy="487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753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b="true" sz="1899" spc="399">
                  <a:solidFill>
                    <a:srgbClr val="6E7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ENGINE, THREE INTERFACES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4583" y="3919223"/>
            <a:ext cx="1579883" cy="1579883"/>
            <a:chOff x="0" y="0"/>
            <a:chExt cx="2106511" cy="21065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06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106422">
                  <a:moveTo>
                    <a:pt x="0" y="1053211"/>
                  </a:moveTo>
                  <a:cubicBezTo>
                    <a:pt x="0" y="471551"/>
                    <a:pt x="471551" y="0"/>
                    <a:pt x="1053211" y="0"/>
                  </a:cubicBezTo>
                  <a:cubicBezTo>
                    <a:pt x="1634871" y="0"/>
                    <a:pt x="2106422" y="471551"/>
                    <a:pt x="2106422" y="1053211"/>
                  </a:cubicBezTo>
                  <a:cubicBezTo>
                    <a:pt x="2106422" y="1634871"/>
                    <a:pt x="1634871" y="2106422"/>
                    <a:pt x="1053211" y="2106422"/>
                  </a:cubicBezTo>
                  <a:cubicBezTo>
                    <a:pt x="471551" y="2106422"/>
                    <a:pt x="0" y="1634998"/>
                    <a:pt x="0" y="1053211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524762" y="4359402"/>
            <a:ext cx="699516" cy="699516"/>
            <a:chOff x="0" y="0"/>
            <a:chExt cx="932688" cy="932688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932688" cy="932688"/>
            </a:xfrm>
            <a:custGeom>
              <a:avLst/>
              <a:gdLst/>
              <a:ahLst/>
              <a:cxnLst/>
              <a:rect r="r" b="b" t="t" l="l"/>
              <a:pathLst>
                <a:path h="932688" w="932688">
                  <a:moveTo>
                    <a:pt x="0" y="0"/>
                  </a:moveTo>
                  <a:lnTo>
                    <a:pt x="932688" y="0"/>
                  </a:lnTo>
                  <a:lnTo>
                    <a:pt x="932688" y="932688"/>
                  </a:lnTo>
                  <a:lnTo>
                    <a:pt x="0" y="932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48640" y="5541264"/>
            <a:ext cx="2651760" cy="402336"/>
            <a:chOff x="0" y="0"/>
            <a:chExt cx="3535680" cy="5364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3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535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Streaming scorer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222900">
            <a:off x="2632091" y="4699635"/>
            <a:ext cx="587978" cy="0"/>
          </a:xfrm>
          <a:prstGeom prst="line">
            <a:avLst/>
          </a:prstGeom>
          <a:ln cap="rnd" w="19050">
            <a:solidFill>
              <a:srgbClr val="2E8B8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5345760">
            <a:off x="1992478" y="4708779"/>
            <a:ext cx="2415845" cy="0"/>
          </a:xfrm>
          <a:prstGeom prst="line">
            <a:avLst/>
          </a:prstGeom>
          <a:ln cap="rnd" w="19050">
            <a:solidFill>
              <a:srgbClr val="2E8B8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192900">
            <a:off x="3180817" y="3520059"/>
            <a:ext cx="679247" cy="0"/>
          </a:xfrm>
          <a:prstGeom prst="line">
            <a:avLst/>
          </a:prstGeom>
          <a:ln cap="rnd" w="19050">
            <a:solidFill>
              <a:srgbClr val="2E8B8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3830955" y="3136011"/>
            <a:ext cx="5231130" cy="787146"/>
            <a:chOff x="0" y="0"/>
            <a:chExt cx="6974840" cy="10495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74840" cy="1049528"/>
            </a:xfrm>
            <a:custGeom>
              <a:avLst/>
              <a:gdLst/>
              <a:ahLst/>
              <a:cxnLst/>
              <a:rect r="r" b="b" t="t" l="l"/>
              <a:pathLst>
                <a:path h="1049528" w="6974840">
                  <a:moveTo>
                    <a:pt x="0" y="199898"/>
                  </a:moveTo>
                  <a:cubicBezTo>
                    <a:pt x="0" y="89535"/>
                    <a:pt x="89535" y="0"/>
                    <a:pt x="199898" y="0"/>
                  </a:cubicBezTo>
                  <a:lnTo>
                    <a:pt x="6774942" y="0"/>
                  </a:lnTo>
                  <a:cubicBezTo>
                    <a:pt x="6885305" y="0"/>
                    <a:pt x="6974840" y="89535"/>
                    <a:pt x="6974840" y="199898"/>
                  </a:cubicBezTo>
                  <a:lnTo>
                    <a:pt x="6974840" y="849630"/>
                  </a:lnTo>
                  <a:cubicBezTo>
                    <a:pt x="6974840" y="959993"/>
                    <a:pt x="6885305" y="1049528"/>
                    <a:pt x="6774942" y="1049528"/>
                  </a:cubicBezTo>
                  <a:lnTo>
                    <a:pt x="199898" y="1049528"/>
                  </a:lnTo>
                  <a:cubicBezTo>
                    <a:pt x="89535" y="1049528"/>
                    <a:pt x="0" y="959993"/>
                    <a:pt x="0" y="84963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3955799" y="3242567"/>
            <a:ext cx="574043" cy="574043"/>
            <a:chOff x="0" y="0"/>
            <a:chExt cx="765391" cy="7653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5429" cy="765429"/>
            </a:xfrm>
            <a:custGeom>
              <a:avLst/>
              <a:gdLst/>
              <a:ahLst/>
              <a:cxnLst/>
              <a:rect r="r" b="b" t="t" l="l"/>
              <a:pathLst>
                <a:path h="765429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cubicBezTo>
                    <a:pt x="593979" y="0"/>
                    <a:pt x="765429" y="171323"/>
                    <a:pt x="765429" y="382651"/>
                  </a:cubicBezTo>
                  <a:cubicBezTo>
                    <a:pt x="765429" y="593979"/>
                    <a:pt x="594106" y="765429"/>
                    <a:pt x="382651" y="765429"/>
                  </a:cubicBezTo>
                  <a:cubicBezTo>
                    <a:pt x="171196" y="765429"/>
                    <a:pt x="0" y="594106"/>
                    <a:pt x="0" y="382651"/>
                  </a:cubicBezTo>
                  <a:close/>
                </a:path>
              </a:pathLst>
            </a:custGeom>
            <a:solidFill>
              <a:srgbClr val="5F7A5C"/>
            </a:solidFill>
            <a:ln w="25400" cap="sq">
              <a:solidFill>
                <a:srgbClr val="5F7A5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4105656" y="3392424"/>
            <a:ext cx="274320" cy="274320"/>
            <a:chOff x="0" y="0"/>
            <a:chExt cx="365760" cy="36576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663440" y="3145536"/>
            <a:ext cx="4297680" cy="768096"/>
            <a:chOff x="0" y="0"/>
            <a:chExt cx="5730240" cy="10241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023" r="0" b="-5902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573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FastAPI · /predict, /predict/batch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rot="192900">
            <a:off x="3180817" y="4507611"/>
            <a:ext cx="679247" cy="0"/>
          </a:xfrm>
          <a:prstGeom prst="line">
            <a:avLst/>
          </a:prstGeom>
          <a:ln cap="rnd" w="19050">
            <a:solidFill>
              <a:srgbClr val="2E8B8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3830955" y="4123563"/>
            <a:ext cx="5231130" cy="787146"/>
            <a:chOff x="0" y="0"/>
            <a:chExt cx="6974840" cy="10495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74840" cy="1049528"/>
            </a:xfrm>
            <a:custGeom>
              <a:avLst/>
              <a:gdLst/>
              <a:ahLst/>
              <a:cxnLst/>
              <a:rect r="r" b="b" t="t" l="l"/>
              <a:pathLst>
                <a:path h="1049528" w="6974840">
                  <a:moveTo>
                    <a:pt x="0" y="199898"/>
                  </a:moveTo>
                  <a:cubicBezTo>
                    <a:pt x="0" y="89535"/>
                    <a:pt x="89535" y="0"/>
                    <a:pt x="199898" y="0"/>
                  </a:cubicBezTo>
                  <a:lnTo>
                    <a:pt x="6774942" y="0"/>
                  </a:lnTo>
                  <a:cubicBezTo>
                    <a:pt x="6885305" y="0"/>
                    <a:pt x="6974840" y="89535"/>
                    <a:pt x="6974840" y="199898"/>
                  </a:cubicBezTo>
                  <a:lnTo>
                    <a:pt x="6974840" y="849630"/>
                  </a:lnTo>
                  <a:cubicBezTo>
                    <a:pt x="6974840" y="959993"/>
                    <a:pt x="6885305" y="1049528"/>
                    <a:pt x="6774942" y="1049528"/>
                  </a:cubicBezTo>
                  <a:lnTo>
                    <a:pt x="199898" y="1049528"/>
                  </a:lnTo>
                  <a:cubicBezTo>
                    <a:pt x="89535" y="1049528"/>
                    <a:pt x="0" y="959993"/>
                    <a:pt x="0" y="84963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3955799" y="4230119"/>
            <a:ext cx="574043" cy="574043"/>
            <a:chOff x="0" y="0"/>
            <a:chExt cx="765391" cy="76539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65429" cy="765429"/>
            </a:xfrm>
            <a:custGeom>
              <a:avLst/>
              <a:gdLst/>
              <a:ahLst/>
              <a:cxnLst/>
              <a:rect r="r" b="b" t="t" l="l"/>
              <a:pathLst>
                <a:path h="765429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cubicBezTo>
                    <a:pt x="593979" y="0"/>
                    <a:pt x="765429" y="171323"/>
                    <a:pt x="765429" y="382651"/>
                  </a:cubicBezTo>
                  <a:cubicBezTo>
                    <a:pt x="765429" y="593979"/>
                    <a:pt x="594106" y="765429"/>
                    <a:pt x="382651" y="765429"/>
                  </a:cubicBezTo>
                  <a:cubicBezTo>
                    <a:pt x="171196" y="765429"/>
                    <a:pt x="0" y="594106"/>
                    <a:pt x="0" y="382651"/>
                  </a:cubicBezTo>
                  <a:close/>
                </a:path>
              </a:pathLst>
            </a:custGeom>
            <a:solidFill>
              <a:srgbClr val="5F7A5C"/>
            </a:solidFill>
            <a:ln w="25400" cap="sq">
              <a:solidFill>
                <a:srgbClr val="5F7A5C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4105656" y="4379976"/>
            <a:ext cx="274320" cy="274320"/>
            <a:chOff x="0" y="0"/>
            <a:chExt cx="365760" cy="36576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663440" y="4133088"/>
            <a:ext cx="4297680" cy="768096"/>
            <a:chOff x="0" y="0"/>
            <a:chExt cx="5730240" cy="10241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023" r="0" b="-5902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573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Streamlit dashboard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 rot="192900">
            <a:off x="3180817" y="5495163"/>
            <a:ext cx="679247" cy="0"/>
          </a:xfrm>
          <a:prstGeom prst="line">
            <a:avLst/>
          </a:prstGeom>
          <a:ln cap="rnd" w="19050">
            <a:solidFill>
              <a:srgbClr val="2E8B8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4" id="44"/>
          <p:cNvGrpSpPr/>
          <p:nvPr/>
        </p:nvGrpSpPr>
        <p:grpSpPr>
          <a:xfrm rot="0">
            <a:off x="3830955" y="5111115"/>
            <a:ext cx="5231130" cy="787146"/>
            <a:chOff x="0" y="0"/>
            <a:chExt cx="6974840" cy="10495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974840" cy="1049528"/>
            </a:xfrm>
            <a:custGeom>
              <a:avLst/>
              <a:gdLst/>
              <a:ahLst/>
              <a:cxnLst/>
              <a:rect r="r" b="b" t="t" l="l"/>
              <a:pathLst>
                <a:path h="1049528" w="6974840">
                  <a:moveTo>
                    <a:pt x="0" y="199898"/>
                  </a:moveTo>
                  <a:cubicBezTo>
                    <a:pt x="0" y="89535"/>
                    <a:pt x="89535" y="0"/>
                    <a:pt x="199898" y="0"/>
                  </a:cubicBezTo>
                  <a:lnTo>
                    <a:pt x="6774942" y="0"/>
                  </a:lnTo>
                  <a:cubicBezTo>
                    <a:pt x="6885305" y="0"/>
                    <a:pt x="6974840" y="89535"/>
                    <a:pt x="6974840" y="199898"/>
                  </a:cubicBezTo>
                  <a:lnTo>
                    <a:pt x="6974840" y="849630"/>
                  </a:lnTo>
                  <a:cubicBezTo>
                    <a:pt x="6974840" y="959993"/>
                    <a:pt x="6885305" y="1049528"/>
                    <a:pt x="6774942" y="1049528"/>
                  </a:cubicBezTo>
                  <a:lnTo>
                    <a:pt x="199898" y="1049528"/>
                  </a:lnTo>
                  <a:cubicBezTo>
                    <a:pt x="89535" y="1049528"/>
                    <a:pt x="0" y="959993"/>
                    <a:pt x="0" y="84963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3955799" y="5217671"/>
            <a:ext cx="574043" cy="574043"/>
            <a:chOff x="0" y="0"/>
            <a:chExt cx="765391" cy="76539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65429" cy="765429"/>
            </a:xfrm>
            <a:custGeom>
              <a:avLst/>
              <a:gdLst/>
              <a:ahLst/>
              <a:cxnLst/>
              <a:rect r="r" b="b" t="t" l="l"/>
              <a:pathLst>
                <a:path h="765429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cubicBezTo>
                    <a:pt x="593979" y="0"/>
                    <a:pt x="765429" y="171323"/>
                    <a:pt x="765429" y="382651"/>
                  </a:cubicBezTo>
                  <a:cubicBezTo>
                    <a:pt x="765429" y="593979"/>
                    <a:pt x="594106" y="765429"/>
                    <a:pt x="382651" y="765429"/>
                  </a:cubicBezTo>
                  <a:cubicBezTo>
                    <a:pt x="171196" y="765429"/>
                    <a:pt x="0" y="594106"/>
                    <a:pt x="0" y="382651"/>
                  </a:cubicBezTo>
                  <a:close/>
                </a:path>
              </a:pathLst>
            </a:custGeom>
            <a:solidFill>
              <a:srgbClr val="5F7A5C"/>
            </a:solidFill>
            <a:ln w="25400" cap="sq">
              <a:solidFill>
                <a:srgbClr val="5F7A5C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4105656" y="5367528"/>
            <a:ext cx="274320" cy="274320"/>
            <a:chOff x="0" y="0"/>
            <a:chExt cx="365760" cy="36576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663440" y="5120640"/>
            <a:ext cx="4297680" cy="768096"/>
            <a:chOff x="0" y="0"/>
            <a:chExt cx="5730240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023" r="0" b="-5902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73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 · analyse_file.py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4400" y="6144768"/>
            <a:ext cx="8046720" cy="457200"/>
            <a:chOff x="0" y="0"/>
            <a:chExt cx="1072896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28960" cy="609600"/>
            </a:xfrm>
            <a:custGeom>
              <a:avLst/>
              <a:gdLst/>
              <a:ahLst/>
              <a:cxnLst/>
              <a:rect r="r" b="b" t="t" l="l"/>
              <a:pathLst>
                <a:path h="6096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2936" r="0" b="-29293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7289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452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Identical code path across all three.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509760" y="2560320"/>
            <a:ext cx="3657600" cy="365760"/>
            <a:chOff x="0" y="0"/>
            <a:chExt cx="4876800" cy="4876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87680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b="true" sz="1899" spc="399">
                  <a:solidFill>
                    <a:srgbClr val="6E7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LEAKAGE-SAFE DESIGN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428983" y="2456183"/>
            <a:ext cx="3957323" cy="537467"/>
            <a:chOff x="0" y="0"/>
            <a:chExt cx="5276431" cy="71662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276342" cy="716534"/>
            </a:xfrm>
            <a:custGeom>
              <a:avLst/>
              <a:gdLst/>
              <a:ahLst/>
              <a:cxnLst/>
              <a:rect r="r" b="b" t="t" l="l"/>
              <a:pathLst>
                <a:path h="716534" w="5276342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4918075" y="0"/>
                  </a:lnTo>
                  <a:cubicBezTo>
                    <a:pt x="5115941" y="0"/>
                    <a:pt x="5276342" y="160401"/>
                    <a:pt x="5276342" y="358267"/>
                  </a:cubicBezTo>
                  <a:cubicBezTo>
                    <a:pt x="5276342" y="556133"/>
                    <a:pt x="5115941" y="716534"/>
                    <a:pt x="4918075" y="716534"/>
                  </a:cubicBez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3441680" y="2468880"/>
            <a:ext cx="3931920" cy="512064"/>
            <a:chOff x="0" y="0"/>
            <a:chExt cx="5242560" cy="68275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242560" cy="682752"/>
            </a:xfrm>
            <a:custGeom>
              <a:avLst/>
              <a:gdLst/>
              <a:ahLst/>
              <a:cxnLst/>
              <a:rect r="r" b="b" t="t" l="l"/>
              <a:pathLst>
                <a:path h="68275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617" r="0" b="-9961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52425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 / 18 QA checks pass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500235" y="3136011"/>
            <a:ext cx="7882890" cy="787146"/>
            <a:chOff x="0" y="0"/>
            <a:chExt cx="10510520" cy="104952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510520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510520">
                  <a:moveTo>
                    <a:pt x="0" y="199898"/>
                  </a:moveTo>
                  <a:cubicBezTo>
                    <a:pt x="0" y="89535"/>
                    <a:pt x="89535" y="0"/>
                    <a:pt x="199898" y="0"/>
                  </a:cubicBezTo>
                  <a:lnTo>
                    <a:pt x="10310622" y="0"/>
                  </a:lnTo>
                  <a:cubicBezTo>
                    <a:pt x="10420985" y="0"/>
                    <a:pt x="10510520" y="89535"/>
                    <a:pt x="10510520" y="199898"/>
                  </a:cubicBezTo>
                  <a:lnTo>
                    <a:pt x="10510520" y="849630"/>
                  </a:lnTo>
                  <a:cubicBezTo>
                    <a:pt x="10510520" y="959993"/>
                    <a:pt x="10420985" y="1049528"/>
                    <a:pt x="10310622" y="1049528"/>
                  </a:cubicBezTo>
                  <a:lnTo>
                    <a:pt x="199898" y="1049528"/>
                  </a:lnTo>
                  <a:cubicBezTo>
                    <a:pt x="89535" y="1049528"/>
                    <a:pt x="0" y="959993"/>
                    <a:pt x="0" y="84963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9625079" y="3242567"/>
            <a:ext cx="574043" cy="574043"/>
            <a:chOff x="0" y="0"/>
            <a:chExt cx="765391" cy="76539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65429" cy="765429"/>
            </a:xfrm>
            <a:custGeom>
              <a:avLst/>
              <a:gdLst/>
              <a:ahLst/>
              <a:cxnLst/>
              <a:rect r="r" b="b" t="t" l="l"/>
              <a:pathLst>
                <a:path h="765429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cubicBezTo>
                    <a:pt x="593979" y="0"/>
                    <a:pt x="765429" y="171323"/>
                    <a:pt x="765429" y="382651"/>
                  </a:cubicBezTo>
                  <a:cubicBezTo>
                    <a:pt x="765429" y="593979"/>
                    <a:pt x="594106" y="765429"/>
                    <a:pt x="382651" y="765429"/>
                  </a:cubicBezTo>
                  <a:cubicBezTo>
                    <a:pt x="171196" y="765429"/>
                    <a:pt x="0" y="594106"/>
                    <a:pt x="0" y="382651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774936" y="3392424"/>
            <a:ext cx="274320" cy="274320"/>
            <a:chOff x="0" y="0"/>
            <a:chExt cx="365760" cy="365760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424160" y="3145536"/>
            <a:ext cx="3291840" cy="768096"/>
            <a:chOff x="0" y="0"/>
            <a:chExt cx="4389120" cy="102412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389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43891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HistoryStore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886183" y="3297431"/>
            <a:ext cx="3317243" cy="464315"/>
            <a:chOff x="0" y="0"/>
            <a:chExt cx="4422991" cy="61908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422902" cy="618998"/>
            </a:xfrm>
            <a:custGeom>
              <a:avLst/>
              <a:gdLst/>
              <a:ahLst/>
              <a:cxnLst/>
              <a:rect r="r" b="b" t="t" l="l"/>
              <a:pathLst>
                <a:path h="618998" w="4422902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4113403" y="0"/>
                  </a:lnTo>
                  <a:cubicBezTo>
                    <a:pt x="4284345" y="0"/>
                    <a:pt x="4422902" y="138557"/>
                    <a:pt x="4422902" y="309499"/>
                  </a:cubicBezTo>
                  <a:cubicBezTo>
                    <a:pt x="4422902" y="480441"/>
                    <a:pt x="4284345" y="618998"/>
                    <a:pt x="4113403" y="618998"/>
                  </a:cubicBez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close/>
                </a:path>
              </a:pathLst>
            </a:custGeom>
            <a:solidFill>
              <a:srgbClr val="E1F0EE"/>
            </a:solidFill>
            <a:ln w="25400" cap="sq">
              <a:solidFill>
                <a:srgbClr val="E1F0EE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3898880" y="3310128"/>
            <a:ext cx="3291840" cy="438912"/>
            <a:chOff x="0" y="0"/>
            <a:chExt cx="4389120" cy="58521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389120" cy="585216"/>
            </a:xfrm>
            <a:custGeom>
              <a:avLst/>
              <a:gdLst/>
              <a:ahLst/>
              <a:cxnLst/>
              <a:rect r="r" b="b" t="t" l="l"/>
              <a:pathLst>
                <a:path h="58521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4389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2370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streaming state</a:t>
              </a:r>
            </a:p>
          </p:txBody>
        </p:sp>
      </p:grpSp>
      <p:sp>
        <p:nvSpPr>
          <p:cNvPr name="AutoShape 78" id="78"/>
          <p:cNvSpPr/>
          <p:nvPr/>
        </p:nvSpPr>
        <p:spPr>
          <a:xfrm rot="4967820">
            <a:off x="13315074" y="4018597"/>
            <a:ext cx="253203" cy="0"/>
          </a:xfrm>
          <a:prstGeom prst="line">
            <a:avLst/>
          </a:prstGeom>
          <a:ln cap="rnd" w="9525">
            <a:solidFill>
              <a:srgbClr val="6E7B82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9" id="79"/>
          <p:cNvGrpSpPr/>
          <p:nvPr/>
        </p:nvGrpSpPr>
        <p:grpSpPr>
          <a:xfrm rot="0">
            <a:off x="9500235" y="4123563"/>
            <a:ext cx="7882890" cy="787146"/>
            <a:chOff x="0" y="0"/>
            <a:chExt cx="10510520" cy="104952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510520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510520">
                  <a:moveTo>
                    <a:pt x="0" y="199898"/>
                  </a:moveTo>
                  <a:cubicBezTo>
                    <a:pt x="0" y="89535"/>
                    <a:pt x="89535" y="0"/>
                    <a:pt x="199898" y="0"/>
                  </a:cubicBezTo>
                  <a:lnTo>
                    <a:pt x="10310622" y="0"/>
                  </a:lnTo>
                  <a:cubicBezTo>
                    <a:pt x="10420985" y="0"/>
                    <a:pt x="10510520" y="89535"/>
                    <a:pt x="10510520" y="199898"/>
                  </a:cubicBezTo>
                  <a:lnTo>
                    <a:pt x="10510520" y="849630"/>
                  </a:lnTo>
                  <a:cubicBezTo>
                    <a:pt x="10510520" y="959993"/>
                    <a:pt x="10420985" y="1049528"/>
                    <a:pt x="10310622" y="1049528"/>
                  </a:cubicBezTo>
                  <a:lnTo>
                    <a:pt x="199898" y="1049528"/>
                  </a:lnTo>
                  <a:cubicBezTo>
                    <a:pt x="89535" y="1049528"/>
                    <a:pt x="0" y="959993"/>
                    <a:pt x="0" y="84963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9625079" y="4230119"/>
            <a:ext cx="574043" cy="574043"/>
            <a:chOff x="0" y="0"/>
            <a:chExt cx="765391" cy="76539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65429" cy="765429"/>
            </a:xfrm>
            <a:custGeom>
              <a:avLst/>
              <a:gdLst/>
              <a:ahLst/>
              <a:cxnLst/>
              <a:rect r="r" b="b" t="t" l="l"/>
              <a:pathLst>
                <a:path h="765429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cubicBezTo>
                    <a:pt x="593979" y="0"/>
                    <a:pt x="765429" y="171323"/>
                    <a:pt x="765429" y="382651"/>
                  </a:cubicBezTo>
                  <a:cubicBezTo>
                    <a:pt x="765429" y="593979"/>
                    <a:pt x="594106" y="765429"/>
                    <a:pt x="382651" y="765429"/>
                  </a:cubicBezTo>
                  <a:cubicBezTo>
                    <a:pt x="171196" y="765429"/>
                    <a:pt x="0" y="594106"/>
                    <a:pt x="0" y="382651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9774936" y="4379976"/>
            <a:ext cx="274320" cy="274320"/>
            <a:chOff x="0" y="0"/>
            <a:chExt cx="365760" cy="365760"/>
          </a:xfrm>
        </p:grpSpPr>
        <p:sp>
          <p:nvSpPr>
            <p:cNvPr name="Freeform 84" id="84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424160" y="4133088"/>
            <a:ext cx="3291840" cy="768096"/>
            <a:chOff x="0" y="0"/>
            <a:chExt cx="4389120" cy="102412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389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43891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extract_features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886183" y="4284983"/>
            <a:ext cx="3317243" cy="464315"/>
            <a:chOff x="0" y="0"/>
            <a:chExt cx="4422991" cy="61908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422902" cy="618998"/>
            </a:xfrm>
            <a:custGeom>
              <a:avLst/>
              <a:gdLst/>
              <a:ahLst/>
              <a:cxnLst/>
              <a:rect r="r" b="b" t="t" l="l"/>
              <a:pathLst>
                <a:path h="618998" w="4422902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4113403" y="0"/>
                  </a:lnTo>
                  <a:cubicBezTo>
                    <a:pt x="4284345" y="0"/>
                    <a:pt x="4422902" y="138557"/>
                    <a:pt x="4422902" y="309499"/>
                  </a:cubicBezTo>
                  <a:cubicBezTo>
                    <a:pt x="4422902" y="480441"/>
                    <a:pt x="4284345" y="618998"/>
                    <a:pt x="4113403" y="618998"/>
                  </a:cubicBez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close/>
                </a:path>
              </a:pathLst>
            </a:custGeom>
            <a:solidFill>
              <a:srgbClr val="E1F0EE"/>
            </a:solidFill>
            <a:ln w="25400" cap="sq">
              <a:solidFill>
                <a:srgbClr val="E1F0EE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3898880" y="4297680"/>
            <a:ext cx="3291840" cy="438912"/>
            <a:chOff x="0" y="0"/>
            <a:chExt cx="4389120" cy="58521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389120" cy="585216"/>
            </a:xfrm>
            <a:custGeom>
              <a:avLst/>
              <a:gdLst/>
              <a:ahLst/>
              <a:cxnLst/>
              <a:rect r="r" b="b" t="t" l="l"/>
              <a:pathLst>
                <a:path h="58521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4389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2370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pure · point-in-time</a:t>
              </a:r>
            </a:p>
          </p:txBody>
        </p:sp>
      </p:grpSp>
      <p:sp>
        <p:nvSpPr>
          <p:cNvPr name="AutoShape 93" id="93"/>
          <p:cNvSpPr/>
          <p:nvPr/>
        </p:nvSpPr>
        <p:spPr>
          <a:xfrm rot="4967820">
            <a:off x="13315074" y="5006150"/>
            <a:ext cx="253203" cy="0"/>
          </a:xfrm>
          <a:prstGeom prst="line">
            <a:avLst/>
          </a:prstGeom>
          <a:ln cap="rnd" w="9525">
            <a:solidFill>
              <a:srgbClr val="6E7B82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4" id="94"/>
          <p:cNvGrpSpPr/>
          <p:nvPr/>
        </p:nvGrpSpPr>
        <p:grpSpPr>
          <a:xfrm rot="0">
            <a:off x="9500235" y="5111115"/>
            <a:ext cx="7882890" cy="787146"/>
            <a:chOff x="0" y="0"/>
            <a:chExt cx="10510520" cy="104952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510520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510520">
                  <a:moveTo>
                    <a:pt x="0" y="199898"/>
                  </a:moveTo>
                  <a:cubicBezTo>
                    <a:pt x="0" y="89535"/>
                    <a:pt x="89535" y="0"/>
                    <a:pt x="199898" y="0"/>
                  </a:cubicBezTo>
                  <a:lnTo>
                    <a:pt x="10310622" y="0"/>
                  </a:lnTo>
                  <a:cubicBezTo>
                    <a:pt x="10420985" y="0"/>
                    <a:pt x="10510520" y="89535"/>
                    <a:pt x="10510520" y="199898"/>
                  </a:cubicBezTo>
                  <a:lnTo>
                    <a:pt x="10510520" y="849630"/>
                  </a:lnTo>
                  <a:cubicBezTo>
                    <a:pt x="10510520" y="959993"/>
                    <a:pt x="10420985" y="1049528"/>
                    <a:pt x="10310622" y="1049528"/>
                  </a:cubicBezTo>
                  <a:lnTo>
                    <a:pt x="199898" y="1049528"/>
                  </a:lnTo>
                  <a:cubicBezTo>
                    <a:pt x="89535" y="1049528"/>
                    <a:pt x="0" y="959993"/>
                    <a:pt x="0" y="84963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9625079" y="5217671"/>
            <a:ext cx="574043" cy="574043"/>
            <a:chOff x="0" y="0"/>
            <a:chExt cx="765391" cy="76539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65429" cy="765429"/>
            </a:xfrm>
            <a:custGeom>
              <a:avLst/>
              <a:gdLst/>
              <a:ahLst/>
              <a:cxnLst/>
              <a:rect r="r" b="b" t="t" l="l"/>
              <a:pathLst>
                <a:path h="765429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cubicBezTo>
                    <a:pt x="593979" y="0"/>
                    <a:pt x="765429" y="171323"/>
                    <a:pt x="765429" y="382651"/>
                  </a:cubicBezTo>
                  <a:cubicBezTo>
                    <a:pt x="765429" y="593979"/>
                    <a:pt x="594106" y="765429"/>
                    <a:pt x="382651" y="765429"/>
                  </a:cubicBezTo>
                  <a:cubicBezTo>
                    <a:pt x="171196" y="765429"/>
                    <a:pt x="0" y="594106"/>
                    <a:pt x="0" y="382651"/>
                  </a:cubicBezTo>
                  <a:close/>
                </a:path>
              </a:pathLst>
            </a:custGeom>
            <a:solidFill>
              <a:srgbClr val="BC6B4C"/>
            </a:solidFill>
            <a:ln w="25400" cap="sq">
              <a:solidFill>
                <a:srgbClr val="BC6B4C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9774936" y="5367528"/>
            <a:ext cx="274320" cy="274320"/>
            <a:chOff x="0" y="0"/>
            <a:chExt cx="365760" cy="365760"/>
          </a:xfrm>
        </p:grpSpPr>
        <p:sp>
          <p:nvSpPr>
            <p:cNvPr name="Freeform 99" id="99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0424160" y="5120640"/>
            <a:ext cx="3291840" cy="768096"/>
            <a:chOff x="0" y="0"/>
            <a:chExt cx="4389120" cy="102412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389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43891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commit_row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3886183" y="5272535"/>
            <a:ext cx="3317243" cy="464315"/>
            <a:chOff x="0" y="0"/>
            <a:chExt cx="4422991" cy="619087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422902" cy="618998"/>
            </a:xfrm>
            <a:custGeom>
              <a:avLst/>
              <a:gdLst/>
              <a:ahLst/>
              <a:cxnLst/>
              <a:rect r="r" b="b" t="t" l="l"/>
              <a:pathLst>
                <a:path h="618998" w="4422902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4113403" y="0"/>
                  </a:lnTo>
                  <a:cubicBezTo>
                    <a:pt x="4284345" y="0"/>
                    <a:pt x="4422902" y="138557"/>
                    <a:pt x="4422902" y="309499"/>
                  </a:cubicBezTo>
                  <a:cubicBezTo>
                    <a:pt x="4422902" y="480441"/>
                    <a:pt x="4284345" y="618998"/>
                    <a:pt x="4113403" y="618998"/>
                  </a:cubicBez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close/>
                </a:path>
              </a:pathLst>
            </a:custGeom>
            <a:solidFill>
              <a:srgbClr val="E1F0EE"/>
            </a:solidFill>
            <a:ln w="25400" cap="sq">
              <a:solidFill>
                <a:srgbClr val="E1F0EE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3898880" y="5285232"/>
            <a:ext cx="3291840" cy="438912"/>
            <a:chOff x="0" y="0"/>
            <a:chExt cx="4389120" cy="58521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389120" cy="585216"/>
            </a:xfrm>
            <a:custGeom>
              <a:avLst/>
              <a:gdLst/>
              <a:ahLst/>
              <a:cxnLst/>
              <a:rect r="r" b="b" t="t" l="l"/>
              <a:pathLst>
                <a:path h="58521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4389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2370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always runs last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509760" y="6144768"/>
            <a:ext cx="7863840" cy="457200"/>
            <a:chOff x="0" y="0"/>
            <a:chExt cx="10485120" cy="6096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485120" cy="609600"/>
            </a:xfrm>
            <a:custGeom>
              <a:avLst/>
              <a:gdLst/>
              <a:ahLst/>
              <a:cxnLst/>
              <a:rect r="r" b="b" t="t" l="l"/>
              <a:pathLst>
                <a:path h="6096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142" r="0" b="-285142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1048512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452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reports/leakage_report.json: zero leakage, with a parity re-check.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14400" y="7095744"/>
            <a:ext cx="5486400" cy="365760"/>
            <a:chOff x="0" y="0"/>
            <a:chExt cx="7315200" cy="48768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b="true" sz="1899" spc="399">
                  <a:solidFill>
                    <a:srgbClr val="6E7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  ·  9 STAGES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1965943" y="7137911"/>
            <a:ext cx="244859" cy="244859"/>
            <a:chOff x="0" y="0"/>
            <a:chExt cx="326479" cy="326479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BC6B4C"/>
            </a:solidFill>
            <a:ln w="25400" cap="sq">
              <a:solidFill>
                <a:srgbClr val="BC6B4C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344400" y="7077456"/>
            <a:ext cx="5120640" cy="365760"/>
            <a:chOff x="0" y="0"/>
            <a:chExt cx="6827520" cy="48768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6827520" cy="487680"/>
            </a:xfrm>
            <a:custGeom>
              <a:avLst/>
              <a:gdLst/>
              <a:ahLst/>
              <a:cxnLst/>
              <a:rect r="r" b="b" t="t" l="l"/>
              <a:pathLst>
                <a:path h="4876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68275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keep unseen customers and priors out of TRAIN</a:t>
              </a:r>
            </a:p>
          </p:txBody>
        </p:sp>
      </p:grpSp>
      <p:sp>
        <p:nvSpPr>
          <p:cNvPr name="AutoShape 119" id="119"/>
          <p:cNvSpPr/>
          <p:nvPr/>
        </p:nvSpPr>
        <p:spPr>
          <a:xfrm rot="17820">
            <a:off x="1699165" y="8069008"/>
            <a:ext cx="14706800" cy="0"/>
          </a:xfrm>
          <a:prstGeom prst="line">
            <a:avLst/>
          </a:prstGeom>
          <a:ln cap="rnd" w="28575">
            <a:solidFill>
              <a:srgbClr val="E3E9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0" id="120"/>
          <p:cNvGrpSpPr/>
          <p:nvPr/>
        </p:nvGrpSpPr>
        <p:grpSpPr>
          <a:xfrm rot="0">
            <a:off x="1413767" y="7759703"/>
            <a:ext cx="647195" cy="647195"/>
            <a:chOff x="0" y="0"/>
            <a:chExt cx="862927" cy="862927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862965" cy="862965"/>
            </a:xfrm>
            <a:custGeom>
              <a:avLst/>
              <a:gdLst/>
              <a:ahLst/>
              <a:cxnLst/>
              <a:rect r="r" b="b" t="t" l="l"/>
              <a:pathLst>
                <a:path h="862965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BC6B4C"/>
            </a:solidFill>
            <a:ln w="25400" cap="sq">
              <a:solidFill>
                <a:srgbClr val="BC6B4C"/>
              </a:solidFill>
              <a:prstDash val="solid"/>
              <a:miter/>
            </a:ln>
          </p:spPr>
        </p:sp>
      </p:grpSp>
      <p:grpSp>
        <p:nvGrpSpPr>
          <p:cNvPr name="Group 122" id="122"/>
          <p:cNvGrpSpPr/>
          <p:nvPr/>
        </p:nvGrpSpPr>
        <p:grpSpPr>
          <a:xfrm rot="0">
            <a:off x="1426464" y="7772400"/>
            <a:ext cx="621792" cy="621792"/>
            <a:chOff x="0" y="0"/>
            <a:chExt cx="829056" cy="82905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25" id="125"/>
          <p:cNvSpPr txBox="true"/>
          <p:nvPr/>
        </p:nvSpPr>
        <p:spPr>
          <a:xfrm rot="0">
            <a:off x="822960" y="846582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24313A"/>
                </a:solidFill>
                <a:latin typeface="Calibri (MS)"/>
                <a:ea typeface="Calibri (MS)"/>
                <a:cs typeface="Calibri (MS)"/>
                <a:sym typeface="Calibri (MS)"/>
              </a:rPr>
              <a:t>Unseen holdout</a:t>
            </a:r>
          </a:p>
        </p:txBody>
      </p:sp>
      <p:grpSp>
        <p:nvGrpSpPr>
          <p:cNvPr name="Group 126" id="126"/>
          <p:cNvGrpSpPr/>
          <p:nvPr/>
        </p:nvGrpSpPr>
        <p:grpSpPr>
          <a:xfrm rot="0">
            <a:off x="3242567" y="7759703"/>
            <a:ext cx="647195" cy="647195"/>
            <a:chOff x="0" y="0"/>
            <a:chExt cx="862927" cy="862927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862965" cy="862965"/>
            </a:xfrm>
            <a:custGeom>
              <a:avLst/>
              <a:gdLst/>
              <a:ahLst/>
              <a:cxnLst/>
              <a:rect r="r" b="b" t="t" l="l"/>
              <a:pathLst>
                <a:path h="862965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128" id="128"/>
          <p:cNvGrpSpPr/>
          <p:nvPr/>
        </p:nvGrpSpPr>
        <p:grpSpPr>
          <a:xfrm rot="0">
            <a:off x="3255264" y="7772400"/>
            <a:ext cx="621792" cy="621792"/>
            <a:chOff x="0" y="0"/>
            <a:chExt cx="829056" cy="829056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31" id="131"/>
          <p:cNvSpPr txBox="true"/>
          <p:nvPr/>
        </p:nvSpPr>
        <p:spPr>
          <a:xfrm rot="0">
            <a:off x="2651760" y="846582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24313A"/>
                </a:solidFill>
                <a:latin typeface="Calibri (MS)"/>
                <a:ea typeface="Calibri (MS)"/>
                <a:cs typeface="Calibri (MS)"/>
                <a:sym typeface="Calibri (MS)"/>
              </a:rPr>
              <a:t>Time split</a:t>
            </a:r>
          </a:p>
        </p:txBody>
      </p:sp>
      <p:grpSp>
        <p:nvGrpSpPr>
          <p:cNvPr name="Group 132" id="132"/>
          <p:cNvGrpSpPr/>
          <p:nvPr/>
        </p:nvGrpSpPr>
        <p:grpSpPr>
          <a:xfrm rot="0">
            <a:off x="5071367" y="7759703"/>
            <a:ext cx="647195" cy="647195"/>
            <a:chOff x="0" y="0"/>
            <a:chExt cx="862927" cy="862927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862965" cy="862965"/>
            </a:xfrm>
            <a:custGeom>
              <a:avLst/>
              <a:gdLst/>
              <a:ahLst/>
              <a:cxnLst/>
              <a:rect r="r" b="b" t="t" l="l"/>
              <a:pathLst>
                <a:path h="862965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BC6B4C"/>
            </a:solidFill>
            <a:ln w="25400" cap="sq">
              <a:solidFill>
                <a:srgbClr val="BC6B4C"/>
              </a:solidFill>
              <a:prstDash val="solid"/>
              <a:miter/>
            </a:ln>
          </p:spPr>
        </p:sp>
      </p:grpSp>
      <p:grpSp>
        <p:nvGrpSpPr>
          <p:cNvPr name="Group 134" id="134"/>
          <p:cNvGrpSpPr/>
          <p:nvPr/>
        </p:nvGrpSpPr>
        <p:grpSpPr>
          <a:xfrm rot="0">
            <a:off x="5084064" y="7772400"/>
            <a:ext cx="621792" cy="621792"/>
            <a:chOff x="0" y="0"/>
            <a:chExt cx="829056" cy="829056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137" id="137"/>
          <p:cNvSpPr txBox="true"/>
          <p:nvPr/>
        </p:nvSpPr>
        <p:spPr>
          <a:xfrm rot="0">
            <a:off x="4480560" y="846582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24313A"/>
                </a:solidFill>
                <a:latin typeface="Calibri (MS)"/>
                <a:ea typeface="Calibri (MS)"/>
                <a:cs typeface="Calibri (MS)"/>
                <a:sym typeface="Calibri (MS)"/>
              </a:rPr>
              <a:t>Train-only priors</a:t>
            </a:r>
          </a:p>
        </p:txBody>
      </p:sp>
      <p:grpSp>
        <p:nvGrpSpPr>
          <p:cNvPr name="Group 138" id="138"/>
          <p:cNvGrpSpPr/>
          <p:nvPr/>
        </p:nvGrpSpPr>
        <p:grpSpPr>
          <a:xfrm rot="0">
            <a:off x="6900167" y="7759703"/>
            <a:ext cx="647195" cy="647195"/>
            <a:chOff x="0" y="0"/>
            <a:chExt cx="862927" cy="862927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862965" cy="862965"/>
            </a:xfrm>
            <a:custGeom>
              <a:avLst/>
              <a:gdLst/>
              <a:ahLst/>
              <a:cxnLst/>
              <a:rect r="r" b="b" t="t" l="l"/>
              <a:pathLst>
                <a:path h="862965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140" id="140"/>
          <p:cNvGrpSpPr/>
          <p:nvPr/>
        </p:nvGrpSpPr>
        <p:grpSpPr>
          <a:xfrm rot="0">
            <a:off x="6912864" y="7772400"/>
            <a:ext cx="621792" cy="621792"/>
            <a:chOff x="0" y="0"/>
            <a:chExt cx="829056" cy="829056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TextBox 143" id="143"/>
          <p:cNvSpPr txBox="true"/>
          <p:nvPr/>
        </p:nvSpPr>
        <p:spPr>
          <a:xfrm rot="0">
            <a:off x="6309360" y="846582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24313A"/>
                </a:solidFill>
                <a:latin typeface="Calibri (MS)"/>
                <a:ea typeface="Calibri (MS)"/>
                <a:cs typeface="Calibri (MS)"/>
                <a:sym typeface="Calibri (MS)"/>
              </a:rPr>
              <a:t>History dropout</a:t>
            </a:r>
          </a:p>
        </p:txBody>
      </p:sp>
      <p:grpSp>
        <p:nvGrpSpPr>
          <p:cNvPr name="Group 144" id="144"/>
          <p:cNvGrpSpPr/>
          <p:nvPr/>
        </p:nvGrpSpPr>
        <p:grpSpPr>
          <a:xfrm rot="0">
            <a:off x="8728967" y="7759703"/>
            <a:ext cx="647195" cy="647195"/>
            <a:chOff x="0" y="0"/>
            <a:chExt cx="862927" cy="862927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862965" cy="862965"/>
            </a:xfrm>
            <a:custGeom>
              <a:avLst/>
              <a:gdLst/>
              <a:ahLst/>
              <a:cxnLst/>
              <a:rect r="r" b="b" t="t" l="l"/>
              <a:pathLst>
                <a:path h="862965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146" id="146"/>
          <p:cNvGrpSpPr/>
          <p:nvPr/>
        </p:nvGrpSpPr>
        <p:grpSpPr>
          <a:xfrm rot="0">
            <a:off x="8741664" y="7772400"/>
            <a:ext cx="621792" cy="621792"/>
            <a:chOff x="0" y="0"/>
            <a:chExt cx="829056" cy="829056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sp>
        <p:nvSpPr>
          <p:cNvPr name="TextBox 149" id="149"/>
          <p:cNvSpPr txBox="true"/>
          <p:nvPr/>
        </p:nvSpPr>
        <p:spPr>
          <a:xfrm rot="0">
            <a:off x="8138160" y="846582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24313A"/>
                </a:solidFill>
                <a:latin typeface="Calibri (MS)"/>
                <a:ea typeface="Calibri (MS)"/>
                <a:cs typeface="Calibri (MS)"/>
                <a:sym typeface="Calibri (MS)"/>
              </a:rPr>
              <a:t>Train</a:t>
            </a:r>
          </a:p>
        </p:txBody>
      </p:sp>
      <p:grpSp>
        <p:nvGrpSpPr>
          <p:cNvPr name="Group 150" id="150"/>
          <p:cNvGrpSpPr/>
          <p:nvPr/>
        </p:nvGrpSpPr>
        <p:grpSpPr>
          <a:xfrm rot="0">
            <a:off x="10557767" y="7759703"/>
            <a:ext cx="647195" cy="647195"/>
            <a:chOff x="0" y="0"/>
            <a:chExt cx="862927" cy="862927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862965" cy="862965"/>
            </a:xfrm>
            <a:custGeom>
              <a:avLst/>
              <a:gdLst/>
              <a:ahLst/>
              <a:cxnLst/>
              <a:rect r="r" b="b" t="t" l="l"/>
              <a:pathLst>
                <a:path h="862965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152" id="152"/>
          <p:cNvGrpSpPr/>
          <p:nvPr/>
        </p:nvGrpSpPr>
        <p:grpSpPr>
          <a:xfrm rot="0">
            <a:off x="10570464" y="7772400"/>
            <a:ext cx="621792" cy="621792"/>
            <a:chOff x="0" y="0"/>
            <a:chExt cx="829056" cy="829056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sp>
        <p:nvSpPr>
          <p:cNvPr name="TextBox 155" id="155"/>
          <p:cNvSpPr txBox="true"/>
          <p:nvPr/>
        </p:nvSpPr>
        <p:spPr>
          <a:xfrm rot="0">
            <a:off x="9966960" y="846582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24313A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Calibrate</a:t>
            </a:r>
          </a:p>
        </p:txBody>
      </p:sp>
      <p:grpSp>
        <p:nvGrpSpPr>
          <p:cNvPr name="Group 156" id="156"/>
          <p:cNvGrpSpPr/>
          <p:nvPr/>
        </p:nvGrpSpPr>
        <p:grpSpPr>
          <a:xfrm rot="0">
            <a:off x="12386567" y="7759703"/>
            <a:ext cx="647195" cy="647195"/>
            <a:chOff x="0" y="0"/>
            <a:chExt cx="862927" cy="862927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862965" cy="862965"/>
            </a:xfrm>
            <a:custGeom>
              <a:avLst/>
              <a:gdLst/>
              <a:ahLst/>
              <a:cxnLst/>
              <a:rect r="r" b="b" t="t" l="l"/>
              <a:pathLst>
                <a:path h="862965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158" id="158"/>
          <p:cNvGrpSpPr/>
          <p:nvPr/>
        </p:nvGrpSpPr>
        <p:grpSpPr>
          <a:xfrm rot="0">
            <a:off x="12399264" y="7772400"/>
            <a:ext cx="621792" cy="621792"/>
            <a:chOff x="0" y="0"/>
            <a:chExt cx="829056" cy="8290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sp>
        <p:nvSpPr>
          <p:cNvPr name="TextBox 161" id="161"/>
          <p:cNvSpPr txBox="true"/>
          <p:nvPr/>
        </p:nvSpPr>
        <p:spPr>
          <a:xfrm rot="0">
            <a:off x="11795760" y="846582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24313A"/>
                </a:solidFill>
                <a:latin typeface="Calibri (MS)"/>
                <a:ea typeface="Calibri (MS)"/>
                <a:cs typeface="Calibri (MS)"/>
                <a:sym typeface="Calibri (MS)"/>
              </a:rPr>
              <a:t>Fit novelty</a:t>
            </a:r>
          </a:p>
        </p:txBody>
      </p:sp>
      <p:grpSp>
        <p:nvGrpSpPr>
          <p:cNvPr name="Group 162" id="162"/>
          <p:cNvGrpSpPr/>
          <p:nvPr/>
        </p:nvGrpSpPr>
        <p:grpSpPr>
          <a:xfrm rot="0">
            <a:off x="14215367" y="7759703"/>
            <a:ext cx="647195" cy="647195"/>
            <a:chOff x="0" y="0"/>
            <a:chExt cx="862927" cy="862927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862965" cy="862965"/>
            </a:xfrm>
            <a:custGeom>
              <a:avLst/>
              <a:gdLst/>
              <a:ahLst/>
              <a:cxnLst/>
              <a:rect r="r" b="b" t="t" l="l"/>
              <a:pathLst>
                <a:path h="862965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164" id="164"/>
          <p:cNvGrpSpPr/>
          <p:nvPr/>
        </p:nvGrpSpPr>
        <p:grpSpPr>
          <a:xfrm rot="0">
            <a:off x="14228064" y="7772400"/>
            <a:ext cx="621792" cy="621792"/>
            <a:chOff x="0" y="0"/>
            <a:chExt cx="829056" cy="8290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sp>
        <p:nvSpPr>
          <p:cNvPr name="TextBox 167" id="167"/>
          <p:cNvSpPr txBox="true"/>
          <p:nvPr/>
        </p:nvSpPr>
        <p:spPr>
          <a:xfrm rot="0">
            <a:off x="13624560" y="846582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24313A"/>
                </a:solidFill>
                <a:latin typeface="Calibri (MS)"/>
                <a:ea typeface="Calibri (MS)"/>
                <a:cs typeface="Calibri (MS)"/>
                <a:sym typeface="Calibri (MS)"/>
              </a:rPr>
              <a:t>Persist store</a:t>
            </a:r>
          </a:p>
        </p:txBody>
      </p:sp>
      <p:grpSp>
        <p:nvGrpSpPr>
          <p:cNvPr name="Group 168" id="168"/>
          <p:cNvGrpSpPr/>
          <p:nvPr/>
        </p:nvGrpSpPr>
        <p:grpSpPr>
          <a:xfrm rot="0">
            <a:off x="16044167" y="7759703"/>
            <a:ext cx="647195" cy="647195"/>
            <a:chOff x="0" y="0"/>
            <a:chExt cx="862927" cy="862927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862965" cy="862965"/>
            </a:xfrm>
            <a:custGeom>
              <a:avLst/>
              <a:gdLst/>
              <a:ahLst/>
              <a:cxnLst/>
              <a:rect r="r" b="b" t="t" l="l"/>
              <a:pathLst>
                <a:path h="862965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170" id="170"/>
          <p:cNvGrpSpPr/>
          <p:nvPr/>
        </p:nvGrpSpPr>
        <p:grpSpPr>
          <a:xfrm rot="0">
            <a:off x="16056864" y="7772400"/>
            <a:ext cx="621792" cy="621792"/>
            <a:chOff x="0" y="0"/>
            <a:chExt cx="829056" cy="8290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sp>
        <p:nvSpPr>
          <p:cNvPr name="TextBox 173" id="173"/>
          <p:cNvSpPr txBox="true"/>
          <p:nvPr/>
        </p:nvSpPr>
        <p:spPr>
          <a:xfrm rot="0">
            <a:off x="15453360" y="846582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24313A"/>
                </a:solidFill>
                <a:latin typeface="Calibri (MS)"/>
                <a:ea typeface="Calibri (MS)"/>
                <a:cs typeface="Calibri (MS)"/>
                <a:sym typeface="Calibri (MS)"/>
              </a:rPr>
              <a:t>Replay + eval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475488"/>
            <a:chOff x="0" y="0"/>
            <a:chExt cx="21945600" cy="633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945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599">
                  <a:solidFill>
                    <a:srgbClr val="2E8B8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·  INNOVATION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1051179"/>
            <a:ext cx="1645920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true">
                <a:solidFill>
                  <a:srgbClr val="24313A"/>
                </a:solidFill>
                <a:latin typeface="Georgia Bold"/>
                <a:ea typeface="Georgia Bold"/>
                <a:cs typeface="Georgia Bold"/>
                <a:sym typeface="Georgia Bold"/>
              </a:rPr>
              <a:t>Fair to unseen customers, and explainable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108711"/>
            <a:ext cx="1122683" cy="98555"/>
            <a:chOff x="0" y="0"/>
            <a:chExt cx="149691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96949" cy="131445"/>
            </a:xfrm>
            <a:custGeom>
              <a:avLst/>
              <a:gdLst/>
              <a:ahLst/>
              <a:cxnLst/>
              <a:rect r="r" b="b" t="t" l="l"/>
              <a:pathLst>
                <a:path h="131445" w="1496949">
                  <a:moveTo>
                    <a:pt x="0" y="0"/>
                  </a:moveTo>
                  <a:lnTo>
                    <a:pt x="1496949" y="0"/>
                  </a:lnTo>
                  <a:lnTo>
                    <a:pt x="149694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9656064"/>
            <a:ext cx="5486400" cy="365760"/>
            <a:chOff x="0" y="0"/>
            <a:chExt cx="7315200" cy="487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NOOB CODERS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63045" y="3173138"/>
            <a:ext cx="6964015" cy="5367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2575" indent="-306287" lvl="1">
              <a:lnSpc>
                <a:spcPts val="3046"/>
              </a:lnSpc>
              <a:buFont typeface="Arial"/>
              <a:buChar char="•"/>
            </a:pPr>
            <a:r>
              <a:rPr lang="en-US" b="true" sz="2538">
                <a:solidFill>
                  <a:srgbClr val="243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Fair by design.</a:t>
            </a:r>
            <a:r>
              <a:rPr lang="en-US" sz="2538">
                <a:solidFill>
                  <a:srgbClr val="44525A"/>
                </a:solidFill>
                <a:latin typeface="Calibri (MS)"/>
                <a:ea typeface="Calibri (MS)"/>
                <a:cs typeface="Calibri (MS)"/>
                <a:sym typeface="Calibri (MS)"/>
              </a:rPr>
              <a:t> Customers are held out from TRAIN; a legacy holdout plus a time split eliminates leakage.</a:t>
            </a:r>
          </a:p>
          <a:p>
            <a:pPr algn="l">
              <a:lnSpc>
                <a:spcPts val="3046"/>
              </a:lnSpc>
            </a:pPr>
          </a:p>
          <a:p>
            <a:pPr algn="l" marL="612575" indent="-306287" lvl="1">
              <a:lnSpc>
                <a:spcPts val="3046"/>
              </a:lnSpc>
              <a:buFont typeface="Arial"/>
              <a:buChar char="•"/>
            </a:pPr>
            <a:r>
              <a:rPr lang="en-US" b="true" sz="2538">
                <a:solidFill>
                  <a:srgbClr val="243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Novelty is not fraud, in policy.</a:t>
            </a:r>
            <a:r>
              <a:rPr lang="en-US" sz="2538">
                <a:solidFill>
                  <a:srgbClr val="44525A"/>
                </a:solidFill>
                <a:latin typeface="Calibri (MS)"/>
                <a:ea typeface="Calibri (MS)"/>
                <a:cs typeface="Calibri (MS)"/>
                <a:sym typeface="Calibri (MS)"/>
              </a:rPr>
              <a:t> The matrix needs both signals before escalation, not just at the data level.</a:t>
            </a:r>
          </a:p>
          <a:p>
            <a:pPr algn="l">
              <a:lnSpc>
                <a:spcPts val="3046"/>
              </a:lnSpc>
            </a:pPr>
          </a:p>
          <a:p>
            <a:pPr algn="l" marL="612575" indent="-306287" lvl="1">
              <a:lnSpc>
                <a:spcPts val="3046"/>
              </a:lnSpc>
              <a:buFont typeface="Arial"/>
              <a:buChar char="•"/>
            </a:pPr>
            <a:r>
              <a:rPr lang="en-US" b="true" sz="2538">
                <a:solidFill>
                  <a:srgbClr val="243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Exact TreeSHAP.</a:t>
            </a:r>
            <a:r>
              <a:rPr lang="en-US" sz="2538">
                <a:solidFill>
                  <a:srgbClr val="44525A"/>
                </a:solidFill>
                <a:latin typeface="Calibri (MS)"/>
                <a:ea typeface="Calibri (MS)"/>
                <a:cs typeface="Calibri (MS)"/>
                <a:sym typeface="Calibri (MS)"/>
              </a:rPr>
              <a:t> Native LightGBM contributions, with a perturbation fallback.</a:t>
            </a:r>
          </a:p>
          <a:p>
            <a:pPr algn="l">
              <a:lnSpc>
                <a:spcPts val="3046"/>
              </a:lnSpc>
            </a:pPr>
          </a:p>
          <a:p>
            <a:pPr algn="l" marL="612575" indent="-306287" lvl="1">
              <a:lnSpc>
                <a:spcPts val="3046"/>
              </a:lnSpc>
              <a:buFont typeface="Arial"/>
              <a:buChar char="•"/>
            </a:pPr>
            <a:r>
              <a:rPr lang="en-US" b="true" sz="2538">
                <a:solidFill>
                  <a:srgbClr val="243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Identity-free.</a:t>
            </a:r>
            <a:r>
              <a:rPr lang="en-US" sz="2538">
                <a:solidFill>
                  <a:srgbClr val="44525A"/>
                </a:solidFill>
                <a:latin typeface="Calibri (MS)"/>
                <a:ea typeface="Calibri (MS)"/>
                <a:cs typeface="Calibri (MS)"/>
                <a:sym typeface="Calibri (MS)"/>
              </a:rPr>
              <a:t> Raw IDs are verified absent from model features (QA check I). Analysts read "these factors moved the score", not a verdict.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777223" y="2364743"/>
            <a:ext cx="6060443" cy="6060443"/>
            <a:chOff x="0" y="0"/>
            <a:chExt cx="8080591" cy="80805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80629" cy="8080629"/>
            </a:xfrm>
            <a:custGeom>
              <a:avLst/>
              <a:gdLst/>
              <a:ahLst/>
              <a:cxnLst/>
              <a:rect r="r" b="b" t="t" l="l"/>
              <a:pathLst>
                <a:path h="8080629" w="8080629">
                  <a:moveTo>
                    <a:pt x="0" y="4040251"/>
                  </a:moveTo>
                  <a:cubicBezTo>
                    <a:pt x="0" y="1808861"/>
                    <a:pt x="1808861" y="0"/>
                    <a:pt x="4040251" y="0"/>
                  </a:cubicBezTo>
                  <a:cubicBezTo>
                    <a:pt x="6271641" y="0"/>
                    <a:pt x="8080629" y="1808861"/>
                    <a:pt x="8080629" y="4040251"/>
                  </a:cubicBezTo>
                  <a:cubicBezTo>
                    <a:pt x="8080629" y="6271641"/>
                    <a:pt x="6271641" y="8080629"/>
                    <a:pt x="4040251" y="8080629"/>
                  </a:cubicBezTo>
                  <a:cubicBezTo>
                    <a:pt x="1808861" y="8080629"/>
                    <a:pt x="0" y="6271641"/>
                    <a:pt x="0" y="4040251"/>
                  </a:cubicBezTo>
                  <a:close/>
                </a:path>
              </a:pathLst>
            </a:custGeom>
            <a:solidFill>
              <a:srgbClr val="E1F0EE"/>
            </a:solidFill>
            <a:ln w="25400" cap="sq">
              <a:solidFill>
                <a:srgbClr val="E1F0EE"/>
              </a:solidFill>
              <a:prstDash val="solid"/>
              <a:miter/>
            </a:ln>
          </p:spPr>
        </p:sp>
      </p:grpSp>
      <p:sp>
        <p:nvSpPr>
          <p:cNvPr name="AutoShape 14" id="14"/>
          <p:cNvSpPr/>
          <p:nvPr/>
        </p:nvSpPr>
        <p:spPr>
          <a:xfrm>
            <a:off x="13788397" y="3272788"/>
            <a:ext cx="38085" cy="2141224"/>
          </a:xfrm>
          <a:prstGeom prst="line">
            <a:avLst/>
          </a:prstGeom>
          <a:ln cap="rnd" w="19050">
            <a:solidFill>
              <a:srgbClr val="B9D9D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3788395" y="4324345"/>
            <a:ext cx="1859452" cy="1089669"/>
          </a:xfrm>
          <a:prstGeom prst="line">
            <a:avLst/>
          </a:prstGeom>
          <a:ln cap="rnd" w="19050">
            <a:solidFill>
              <a:srgbClr val="B9D9D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3788395" y="5375905"/>
            <a:ext cx="1859452" cy="1089669"/>
          </a:xfrm>
          <a:prstGeom prst="line">
            <a:avLst/>
          </a:prstGeom>
          <a:ln cap="rnd" w="19050">
            <a:solidFill>
              <a:srgbClr val="B9D9D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3788397" y="5375908"/>
            <a:ext cx="38085" cy="2141224"/>
          </a:xfrm>
          <a:prstGeom prst="line">
            <a:avLst/>
          </a:prstGeom>
          <a:ln cap="rnd" w="19050">
            <a:solidFill>
              <a:srgbClr val="B9D9D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1967034" y="5375905"/>
            <a:ext cx="1859452" cy="1089669"/>
          </a:xfrm>
          <a:prstGeom prst="line">
            <a:avLst/>
          </a:prstGeom>
          <a:ln cap="rnd" w="19050">
            <a:solidFill>
              <a:srgbClr val="B9D9D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1967034" y="4324345"/>
            <a:ext cx="1859452" cy="1089669"/>
          </a:xfrm>
          <a:prstGeom prst="line">
            <a:avLst/>
          </a:prstGeom>
          <a:ln cap="rnd" w="19050">
            <a:solidFill>
              <a:srgbClr val="B9D9D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2880343" y="4467863"/>
            <a:ext cx="1854203" cy="1854203"/>
            <a:chOff x="0" y="0"/>
            <a:chExt cx="2472271" cy="24722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721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72182">
                  <a:moveTo>
                    <a:pt x="0" y="1236091"/>
                  </a:moveTo>
                  <a:cubicBezTo>
                    <a:pt x="0" y="553466"/>
                    <a:pt x="553466" y="0"/>
                    <a:pt x="1236091" y="0"/>
                  </a:cubicBezTo>
                  <a:cubicBezTo>
                    <a:pt x="1918716" y="0"/>
                    <a:pt x="2472182" y="553466"/>
                    <a:pt x="2472182" y="1236091"/>
                  </a:cubicBezTo>
                  <a:cubicBezTo>
                    <a:pt x="2472182" y="1918716"/>
                    <a:pt x="1918716" y="2472182"/>
                    <a:pt x="1236091" y="2472182"/>
                  </a:cubicBezTo>
                  <a:cubicBezTo>
                    <a:pt x="553466" y="2472182"/>
                    <a:pt x="0" y="1918843"/>
                    <a:pt x="0" y="1236091"/>
                  </a:cubicBezTo>
                  <a:close/>
                </a:path>
              </a:pathLst>
            </a:custGeom>
            <a:solidFill>
              <a:srgbClr val="24313A"/>
            </a:solidFill>
            <a:ln w="25400" cap="sq">
              <a:solidFill>
                <a:srgbClr val="24313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441680" y="5029200"/>
            <a:ext cx="731520" cy="731520"/>
            <a:chOff x="0" y="0"/>
            <a:chExt cx="975360" cy="97536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209527" y="2693927"/>
            <a:ext cx="1195835" cy="1195835"/>
            <a:chOff x="0" y="0"/>
            <a:chExt cx="1594447" cy="15944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94358" cy="1594358"/>
            </a:xfrm>
            <a:custGeom>
              <a:avLst/>
              <a:gdLst/>
              <a:ahLst/>
              <a:cxnLst/>
              <a:rect r="r" b="b" t="t" l="l"/>
              <a:pathLst>
                <a:path h="1594358" w="1594358">
                  <a:moveTo>
                    <a:pt x="0" y="797179"/>
                  </a:moveTo>
                  <a:cubicBezTo>
                    <a:pt x="0" y="356870"/>
                    <a:pt x="356870" y="0"/>
                    <a:pt x="797179" y="0"/>
                  </a:cubicBezTo>
                  <a:cubicBezTo>
                    <a:pt x="1237488" y="0"/>
                    <a:pt x="1594358" y="356870"/>
                    <a:pt x="1594358" y="797179"/>
                  </a:cubicBezTo>
                  <a:cubicBezTo>
                    <a:pt x="1594358" y="1237488"/>
                    <a:pt x="1237488" y="1594358"/>
                    <a:pt x="797179" y="1594358"/>
                  </a:cubicBezTo>
                  <a:cubicBezTo>
                    <a:pt x="356870" y="1594358"/>
                    <a:pt x="0" y="1237488"/>
                    <a:pt x="0" y="797179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514832" y="2999232"/>
            <a:ext cx="585216" cy="585216"/>
            <a:chOff x="0" y="0"/>
            <a:chExt cx="780288" cy="780288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710160" y="3931920"/>
            <a:ext cx="2194560" cy="402336"/>
            <a:chOff x="0" y="0"/>
            <a:chExt cx="2926080" cy="5364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26080" cy="536448"/>
            </a:xfrm>
            <a:custGeom>
              <a:avLst/>
              <a:gdLst/>
              <a:ahLst/>
              <a:cxnLst/>
              <a:rect r="r" b="b" t="t" l="l"/>
              <a:pathLst>
                <a:path h="53644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92608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Velocity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030879" y="3745487"/>
            <a:ext cx="1195835" cy="1195835"/>
            <a:chOff x="0" y="0"/>
            <a:chExt cx="1594447" cy="159444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94358" cy="1594358"/>
            </a:xfrm>
            <a:custGeom>
              <a:avLst/>
              <a:gdLst/>
              <a:ahLst/>
              <a:cxnLst/>
              <a:rect r="r" b="b" t="t" l="l"/>
              <a:pathLst>
                <a:path h="1594358" w="1594358">
                  <a:moveTo>
                    <a:pt x="0" y="797179"/>
                  </a:moveTo>
                  <a:cubicBezTo>
                    <a:pt x="0" y="356870"/>
                    <a:pt x="356870" y="0"/>
                    <a:pt x="797179" y="0"/>
                  </a:cubicBezTo>
                  <a:cubicBezTo>
                    <a:pt x="1237488" y="0"/>
                    <a:pt x="1594358" y="356870"/>
                    <a:pt x="1594358" y="797179"/>
                  </a:cubicBezTo>
                  <a:cubicBezTo>
                    <a:pt x="1594358" y="1237488"/>
                    <a:pt x="1237488" y="1594358"/>
                    <a:pt x="797179" y="1594358"/>
                  </a:cubicBezTo>
                  <a:cubicBezTo>
                    <a:pt x="356870" y="1594358"/>
                    <a:pt x="0" y="1237488"/>
                    <a:pt x="0" y="797179"/>
                  </a:cubicBezTo>
                  <a:close/>
                </a:path>
              </a:pathLst>
            </a:custGeom>
            <a:solidFill>
              <a:srgbClr val="5F7A5C"/>
            </a:solidFill>
            <a:ln w="25400" cap="sq">
              <a:solidFill>
                <a:srgbClr val="5F7A5C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5336183" y="4050792"/>
            <a:ext cx="585216" cy="585216"/>
            <a:chOff x="0" y="0"/>
            <a:chExt cx="780288" cy="780288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4531511" y="4983480"/>
            <a:ext cx="2194560" cy="402336"/>
            <a:chOff x="0" y="0"/>
            <a:chExt cx="2926080" cy="5364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926080" cy="536448"/>
            </a:xfrm>
            <a:custGeom>
              <a:avLst/>
              <a:gdLst/>
              <a:ahLst/>
              <a:cxnLst/>
              <a:rect r="r" b="b" t="t" l="l"/>
              <a:pathLst>
                <a:path h="53644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92608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Amount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030879" y="5848607"/>
            <a:ext cx="1195835" cy="1195835"/>
            <a:chOff x="0" y="0"/>
            <a:chExt cx="1594447" cy="159444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94358" cy="1594358"/>
            </a:xfrm>
            <a:custGeom>
              <a:avLst/>
              <a:gdLst/>
              <a:ahLst/>
              <a:cxnLst/>
              <a:rect r="r" b="b" t="t" l="l"/>
              <a:pathLst>
                <a:path h="1594358" w="1594358">
                  <a:moveTo>
                    <a:pt x="0" y="797179"/>
                  </a:moveTo>
                  <a:cubicBezTo>
                    <a:pt x="0" y="356870"/>
                    <a:pt x="356870" y="0"/>
                    <a:pt x="797179" y="0"/>
                  </a:cubicBezTo>
                  <a:cubicBezTo>
                    <a:pt x="1237488" y="0"/>
                    <a:pt x="1594358" y="356870"/>
                    <a:pt x="1594358" y="797179"/>
                  </a:cubicBezTo>
                  <a:cubicBezTo>
                    <a:pt x="1594358" y="1237488"/>
                    <a:pt x="1237488" y="1594358"/>
                    <a:pt x="797179" y="1594358"/>
                  </a:cubicBezTo>
                  <a:cubicBezTo>
                    <a:pt x="356870" y="1594358"/>
                    <a:pt x="0" y="1237488"/>
                    <a:pt x="0" y="797179"/>
                  </a:cubicBezTo>
                  <a:close/>
                </a:path>
              </a:pathLst>
            </a:custGeom>
            <a:solidFill>
              <a:srgbClr val="C79A5B"/>
            </a:solidFill>
            <a:ln w="25400" cap="sq">
              <a:solidFill>
                <a:srgbClr val="C79A5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5336183" y="6153912"/>
            <a:ext cx="585216" cy="585216"/>
            <a:chOff x="0" y="0"/>
            <a:chExt cx="780288" cy="780288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531511" y="7086600"/>
            <a:ext cx="2194560" cy="402336"/>
            <a:chOff x="0" y="0"/>
            <a:chExt cx="2926080" cy="53644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926080" cy="536448"/>
            </a:xfrm>
            <a:custGeom>
              <a:avLst/>
              <a:gdLst/>
              <a:ahLst/>
              <a:cxnLst/>
              <a:rect r="r" b="b" t="t" l="l"/>
              <a:pathLst>
                <a:path h="53644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92608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Time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209527" y="6900167"/>
            <a:ext cx="1195835" cy="1195835"/>
            <a:chOff x="0" y="0"/>
            <a:chExt cx="1594447" cy="159444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94358" cy="1594358"/>
            </a:xfrm>
            <a:custGeom>
              <a:avLst/>
              <a:gdLst/>
              <a:ahLst/>
              <a:cxnLst/>
              <a:rect r="r" b="b" t="t" l="l"/>
              <a:pathLst>
                <a:path h="1594358" w="1594358">
                  <a:moveTo>
                    <a:pt x="0" y="797179"/>
                  </a:moveTo>
                  <a:cubicBezTo>
                    <a:pt x="0" y="356870"/>
                    <a:pt x="356870" y="0"/>
                    <a:pt x="797179" y="0"/>
                  </a:cubicBezTo>
                  <a:cubicBezTo>
                    <a:pt x="1237488" y="0"/>
                    <a:pt x="1594358" y="356870"/>
                    <a:pt x="1594358" y="797179"/>
                  </a:cubicBezTo>
                  <a:cubicBezTo>
                    <a:pt x="1594358" y="1237488"/>
                    <a:pt x="1237488" y="1594358"/>
                    <a:pt x="797179" y="1594358"/>
                  </a:cubicBezTo>
                  <a:cubicBezTo>
                    <a:pt x="356870" y="1594358"/>
                    <a:pt x="0" y="1237488"/>
                    <a:pt x="0" y="797179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3514832" y="7205472"/>
            <a:ext cx="585216" cy="585216"/>
            <a:chOff x="0" y="0"/>
            <a:chExt cx="780288" cy="780288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710160" y="8138160"/>
            <a:ext cx="2194560" cy="402336"/>
            <a:chOff x="0" y="0"/>
            <a:chExt cx="2926080" cy="5364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926080" cy="536448"/>
            </a:xfrm>
            <a:custGeom>
              <a:avLst/>
              <a:gdLst/>
              <a:ahLst/>
              <a:cxnLst/>
              <a:rect r="r" b="b" t="t" l="l"/>
              <a:pathLst>
                <a:path h="53644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292608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Device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388166" y="5848607"/>
            <a:ext cx="1195835" cy="1195835"/>
            <a:chOff x="0" y="0"/>
            <a:chExt cx="1594447" cy="159444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594358" cy="1594358"/>
            </a:xfrm>
            <a:custGeom>
              <a:avLst/>
              <a:gdLst/>
              <a:ahLst/>
              <a:cxnLst/>
              <a:rect r="r" b="b" t="t" l="l"/>
              <a:pathLst>
                <a:path h="1594358" w="1594358">
                  <a:moveTo>
                    <a:pt x="0" y="797179"/>
                  </a:moveTo>
                  <a:cubicBezTo>
                    <a:pt x="0" y="356870"/>
                    <a:pt x="356870" y="0"/>
                    <a:pt x="797179" y="0"/>
                  </a:cubicBezTo>
                  <a:cubicBezTo>
                    <a:pt x="1237488" y="0"/>
                    <a:pt x="1594358" y="356870"/>
                    <a:pt x="1594358" y="797179"/>
                  </a:cubicBezTo>
                  <a:cubicBezTo>
                    <a:pt x="1594358" y="1237488"/>
                    <a:pt x="1237488" y="1594358"/>
                    <a:pt x="797179" y="1594358"/>
                  </a:cubicBezTo>
                  <a:cubicBezTo>
                    <a:pt x="356870" y="1594358"/>
                    <a:pt x="0" y="1237488"/>
                    <a:pt x="0" y="797179"/>
                  </a:cubicBezTo>
                  <a:close/>
                </a:path>
              </a:pathLst>
            </a:custGeom>
            <a:solidFill>
              <a:srgbClr val="5F7A5C"/>
            </a:solidFill>
            <a:ln w="25400" cap="sq">
              <a:solidFill>
                <a:srgbClr val="5F7A5C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1693481" y="6153912"/>
            <a:ext cx="585216" cy="585216"/>
            <a:chOff x="0" y="0"/>
            <a:chExt cx="780288" cy="780288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888809" y="7086600"/>
            <a:ext cx="2194560" cy="402336"/>
            <a:chOff x="0" y="0"/>
            <a:chExt cx="2926080" cy="5364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26080" cy="536448"/>
            </a:xfrm>
            <a:custGeom>
              <a:avLst/>
              <a:gdLst/>
              <a:ahLst/>
              <a:cxnLst/>
              <a:rect r="r" b="b" t="t" l="l"/>
              <a:pathLst>
                <a:path h="53644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92608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Merchant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388166" y="3745487"/>
            <a:ext cx="1195835" cy="1195835"/>
            <a:chOff x="0" y="0"/>
            <a:chExt cx="1594447" cy="159444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594358" cy="1594358"/>
            </a:xfrm>
            <a:custGeom>
              <a:avLst/>
              <a:gdLst/>
              <a:ahLst/>
              <a:cxnLst/>
              <a:rect r="r" b="b" t="t" l="l"/>
              <a:pathLst>
                <a:path h="1594358" w="1594358">
                  <a:moveTo>
                    <a:pt x="0" y="797179"/>
                  </a:moveTo>
                  <a:cubicBezTo>
                    <a:pt x="0" y="356870"/>
                    <a:pt x="356870" y="0"/>
                    <a:pt x="797179" y="0"/>
                  </a:cubicBezTo>
                  <a:cubicBezTo>
                    <a:pt x="1237488" y="0"/>
                    <a:pt x="1594358" y="356870"/>
                    <a:pt x="1594358" y="797179"/>
                  </a:cubicBezTo>
                  <a:cubicBezTo>
                    <a:pt x="1594358" y="1237488"/>
                    <a:pt x="1237488" y="1594358"/>
                    <a:pt x="797179" y="1594358"/>
                  </a:cubicBezTo>
                  <a:cubicBezTo>
                    <a:pt x="356870" y="1594358"/>
                    <a:pt x="0" y="1237488"/>
                    <a:pt x="0" y="797179"/>
                  </a:cubicBezTo>
                  <a:close/>
                </a:path>
              </a:pathLst>
            </a:custGeom>
            <a:solidFill>
              <a:srgbClr val="C79A5B"/>
            </a:solidFill>
            <a:ln w="25400" cap="sq">
              <a:solidFill>
                <a:srgbClr val="C79A5B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1693481" y="4050792"/>
            <a:ext cx="585216" cy="585216"/>
            <a:chOff x="0" y="0"/>
            <a:chExt cx="780288" cy="780288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888809" y="4983480"/>
            <a:ext cx="2194560" cy="402336"/>
            <a:chOff x="0" y="0"/>
            <a:chExt cx="2926080" cy="5364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926080" cy="536448"/>
            </a:xfrm>
            <a:custGeom>
              <a:avLst/>
              <a:gdLst/>
              <a:ahLst/>
              <a:cxnLst/>
              <a:rect r="r" b="b" t="t" l="l"/>
              <a:pathLst>
                <a:path h="53644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292608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History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594343" y="8619239"/>
            <a:ext cx="6426203" cy="610619"/>
            <a:chOff x="0" y="0"/>
            <a:chExt cx="8568271" cy="81415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568182" cy="814070"/>
            </a:xfrm>
            <a:custGeom>
              <a:avLst/>
              <a:gdLst/>
              <a:ahLst/>
              <a:cxnLst/>
              <a:rect r="r" b="b" t="t" l="l"/>
              <a:pathLst>
                <a:path h="814070" w="8568182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8161147" y="0"/>
                  </a:lnTo>
                  <a:cubicBezTo>
                    <a:pt x="8385937" y="0"/>
                    <a:pt x="8568182" y="182245"/>
                    <a:pt x="8568182" y="407035"/>
                  </a:cubicBezTo>
                  <a:cubicBezTo>
                    <a:pt x="8568182" y="631825"/>
                    <a:pt x="8385937" y="814070"/>
                    <a:pt x="8161147" y="814070"/>
                  </a:cubicBez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0607040" y="8631936"/>
            <a:ext cx="6400800" cy="585216"/>
            <a:chOff x="0" y="0"/>
            <a:chExt cx="8534400" cy="7802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534400" cy="780288"/>
            </a:xfrm>
            <a:custGeom>
              <a:avLst/>
              <a:gdLst/>
              <a:ahLst/>
              <a:cxnLst/>
              <a:rect r="r" b="b" t="t" l="l"/>
              <a:pathLst>
                <a:path h="78028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117" r="0" b="-16311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85344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b="true" sz="2100" i="true">
                  <a:solidFill>
                    <a:srgbClr val="23706A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6 human families · contribution, never causation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475488"/>
            <a:chOff x="0" y="0"/>
            <a:chExt cx="21945600" cy="633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945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599">
                  <a:solidFill>
                    <a:srgbClr val="2E8B8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·  PROTOTYPE &amp; RESTRICTIONS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1051179"/>
            <a:ext cx="1645920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true">
                <a:solidFill>
                  <a:srgbClr val="24313A"/>
                </a:solidFill>
                <a:latin typeface="Georgia Bold"/>
                <a:ea typeface="Georgia Bold"/>
                <a:cs typeface="Georgia Bold"/>
                <a:sym typeface="Georgia Bold"/>
              </a:rPr>
              <a:t>Working end to end, built offline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108711"/>
            <a:ext cx="1122683" cy="98555"/>
            <a:chOff x="0" y="0"/>
            <a:chExt cx="149691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96949" cy="131445"/>
            </a:xfrm>
            <a:custGeom>
              <a:avLst/>
              <a:gdLst/>
              <a:ahLst/>
              <a:cxnLst/>
              <a:rect r="r" b="b" t="t" l="l"/>
              <a:pathLst>
                <a:path h="131445" w="1496949">
                  <a:moveTo>
                    <a:pt x="0" y="0"/>
                  </a:moveTo>
                  <a:lnTo>
                    <a:pt x="1496949" y="0"/>
                  </a:lnTo>
                  <a:lnTo>
                    <a:pt x="149694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544800" y="9656064"/>
            <a:ext cx="1828800" cy="365760"/>
            <a:chOff x="0" y="0"/>
            <a:chExt cx="2438400" cy="487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/ 8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9656064"/>
            <a:ext cx="5486400" cy="365760"/>
            <a:chOff x="0" y="0"/>
            <a:chExt cx="7315200" cy="487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NOOB CODERS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2560320"/>
            <a:ext cx="7315200" cy="365760"/>
            <a:chOff x="0" y="0"/>
            <a:chExt cx="9753600" cy="487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753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b="true" sz="1899" spc="399">
                  <a:solidFill>
                    <a:srgbClr val="6E7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PROTOTYPE  ·  ALL LIVE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4875" y="3062859"/>
            <a:ext cx="3950970" cy="1335786"/>
            <a:chOff x="0" y="0"/>
            <a:chExt cx="5267960" cy="17810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67960" cy="1781048"/>
            </a:xfrm>
            <a:custGeom>
              <a:avLst/>
              <a:gdLst/>
              <a:ahLst/>
              <a:cxnLst/>
              <a:rect r="r" b="b" t="t" l="l"/>
              <a:pathLst>
                <a:path h="1781048" w="5267960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5070094" y="0"/>
                  </a:lnTo>
                  <a:cubicBezTo>
                    <a:pt x="5179441" y="0"/>
                    <a:pt x="5267960" y="88646"/>
                    <a:pt x="5267960" y="197866"/>
                  </a:cubicBezTo>
                  <a:lnTo>
                    <a:pt x="5267960" y="1583182"/>
                  </a:lnTo>
                  <a:cubicBezTo>
                    <a:pt x="5267960" y="1692529"/>
                    <a:pt x="5179314" y="1781048"/>
                    <a:pt x="5070094" y="1781048"/>
                  </a:cubicBezTo>
                  <a:lnTo>
                    <a:pt x="197866" y="1781048"/>
                  </a:lnTo>
                  <a:cubicBezTo>
                    <a:pt x="88646" y="1781048"/>
                    <a:pt x="0" y="1692402"/>
                    <a:pt x="0" y="158318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21159" y="3260855"/>
            <a:ext cx="939803" cy="939803"/>
            <a:chOff x="0" y="0"/>
            <a:chExt cx="1253071" cy="12530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62456" y="3502152"/>
            <a:ext cx="457200" cy="457200"/>
            <a:chOff x="0" y="0"/>
            <a:chExt cx="609600" cy="6096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286000" y="3255264"/>
            <a:ext cx="2468880" cy="457200"/>
            <a:chOff x="0" y="0"/>
            <a:chExt cx="3291840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91840" cy="609600"/>
            </a:xfrm>
            <a:custGeom>
              <a:avLst/>
              <a:gdLst/>
              <a:ahLst/>
              <a:cxnLst/>
              <a:rect r="r" b="b" t="t" l="l"/>
              <a:pathLst>
                <a:path h="6096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2918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273303" y="3827783"/>
            <a:ext cx="939803" cy="391163"/>
            <a:chOff x="0" y="0"/>
            <a:chExt cx="1253071" cy="5215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53109" cy="521589"/>
            </a:xfrm>
            <a:custGeom>
              <a:avLst/>
              <a:gdLst/>
              <a:ahLst/>
              <a:cxnLst/>
              <a:rect r="r" b="b" t="t" l="l"/>
              <a:pathLst>
                <a:path h="521589" w="125310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992251" y="0"/>
                  </a:lnTo>
                  <a:cubicBezTo>
                    <a:pt x="1136269" y="0"/>
                    <a:pt x="1253109" y="116713"/>
                    <a:pt x="1253109" y="260731"/>
                  </a:cubicBezTo>
                  <a:cubicBezTo>
                    <a:pt x="1253109" y="404749"/>
                    <a:pt x="1136269" y="521589"/>
                    <a:pt x="992251" y="521589"/>
                  </a:cubicBezTo>
                  <a:lnTo>
                    <a:pt x="260731" y="521589"/>
                  </a:lnTo>
                  <a:cubicBezTo>
                    <a:pt x="116713" y="521589"/>
                    <a:pt x="0" y="404749"/>
                    <a:pt x="0" y="260731"/>
                  </a:cubicBezTo>
                  <a:close/>
                </a:path>
              </a:pathLst>
            </a:custGeom>
            <a:solidFill>
              <a:srgbClr val="5F7A5C"/>
            </a:solidFill>
            <a:ln w="25400" cap="sq">
              <a:solidFill>
                <a:srgbClr val="5F7A5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2286000" y="3840480"/>
            <a:ext cx="914400" cy="365760"/>
            <a:chOff x="0" y="0"/>
            <a:chExt cx="1219200" cy="4876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19200" cy="487680"/>
            </a:xfrm>
            <a:custGeom>
              <a:avLst/>
              <a:gdLst/>
              <a:ahLst/>
              <a:cxnLst/>
              <a:rect r="r" b="b" t="t" l="l"/>
              <a:pathLst>
                <a:path h="4876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2192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19675" y="3062859"/>
            <a:ext cx="3950970" cy="1335786"/>
            <a:chOff x="0" y="0"/>
            <a:chExt cx="5267960" cy="17810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67960" cy="1781048"/>
            </a:xfrm>
            <a:custGeom>
              <a:avLst/>
              <a:gdLst/>
              <a:ahLst/>
              <a:cxnLst/>
              <a:rect r="r" b="b" t="t" l="l"/>
              <a:pathLst>
                <a:path h="1781048" w="5267960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5070094" y="0"/>
                  </a:lnTo>
                  <a:cubicBezTo>
                    <a:pt x="5179441" y="0"/>
                    <a:pt x="5267960" y="88646"/>
                    <a:pt x="5267960" y="197866"/>
                  </a:cubicBezTo>
                  <a:lnTo>
                    <a:pt x="5267960" y="1583182"/>
                  </a:lnTo>
                  <a:cubicBezTo>
                    <a:pt x="5267960" y="1692529"/>
                    <a:pt x="5179314" y="1781048"/>
                    <a:pt x="5070094" y="1781048"/>
                  </a:cubicBezTo>
                  <a:lnTo>
                    <a:pt x="197866" y="1781048"/>
                  </a:lnTo>
                  <a:cubicBezTo>
                    <a:pt x="88646" y="1781048"/>
                    <a:pt x="0" y="1692402"/>
                    <a:pt x="0" y="158318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5235959" y="3260855"/>
            <a:ext cx="939803" cy="939803"/>
            <a:chOff x="0" y="0"/>
            <a:chExt cx="1253071" cy="125307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5477256" y="3502152"/>
            <a:ext cx="457200" cy="457200"/>
            <a:chOff x="0" y="0"/>
            <a:chExt cx="609600" cy="609600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400800" y="3255264"/>
            <a:ext cx="2468880" cy="457200"/>
            <a:chOff x="0" y="0"/>
            <a:chExt cx="329184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91840" cy="609600"/>
            </a:xfrm>
            <a:custGeom>
              <a:avLst/>
              <a:gdLst/>
              <a:ahLst/>
              <a:cxnLst/>
              <a:rect r="r" b="b" t="t" l="l"/>
              <a:pathLst>
                <a:path h="6096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2918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 scoring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388103" y="3827783"/>
            <a:ext cx="939803" cy="391163"/>
            <a:chOff x="0" y="0"/>
            <a:chExt cx="1253071" cy="52155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53109" cy="521589"/>
            </a:xfrm>
            <a:custGeom>
              <a:avLst/>
              <a:gdLst/>
              <a:ahLst/>
              <a:cxnLst/>
              <a:rect r="r" b="b" t="t" l="l"/>
              <a:pathLst>
                <a:path h="521589" w="125310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992251" y="0"/>
                  </a:lnTo>
                  <a:cubicBezTo>
                    <a:pt x="1136269" y="0"/>
                    <a:pt x="1253109" y="116713"/>
                    <a:pt x="1253109" y="260731"/>
                  </a:cubicBezTo>
                  <a:cubicBezTo>
                    <a:pt x="1253109" y="404749"/>
                    <a:pt x="1136269" y="521589"/>
                    <a:pt x="992251" y="521589"/>
                  </a:cubicBezTo>
                  <a:lnTo>
                    <a:pt x="260731" y="521589"/>
                  </a:lnTo>
                  <a:cubicBezTo>
                    <a:pt x="116713" y="521589"/>
                    <a:pt x="0" y="404749"/>
                    <a:pt x="0" y="260731"/>
                  </a:cubicBezTo>
                  <a:close/>
                </a:path>
              </a:pathLst>
            </a:custGeom>
            <a:solidFill>
              <a:srgbClr val="5F7A5C"/>
            </a:solidFill>
            <a:ln w="25400" cap="sq">
              <a:solidFill>
                <a:srgbClr val="5F7A5C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6400800" y="3840480"/>
            <a:ext cx="914400" cy="365760"/>
            <a:chOff x="0" y="0"/>
            <a:chExt cx="1219200" cy="4876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19200" cy="487680"/>
            </a:xfrm>
            <a:custGeom>
              <a:avLst/>
              <a:gdLst/>
              <a:ahLst/>
              <a:cxnLst/>
              <a:rect r="r" b="b" t="t" l="l"/>
              <a:pathLst>
                <a:path h="4876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2192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04875" y="4562475"/>
            <a:ext cx="3950970" cy="1335786"/>
            <a:chOff x="0" y="0"/>
            <a:chExt cx="5267960" cy="178104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67960" cy="1781048"/>
            </a:xfrm>
            <a:custGeom>
              <a:avLst/>
              <a:gdLst/>
              <a:ahLst/>
              <a:cxnLst/>
              <a:rect r="r" b="b" t="t" l="l"/>
              <a:pathLst>
                <a:path h="1781048" w="5267960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5070094" y="0"/>
                  </a:lnTo>
                  <a:cubicBezTo>
                    <a:pt x="5179441" y="0"/>
                    <a:pt x="5267960" y="88646"/>
                    <a:pt x="5267960" y="197866"/>
                  </a:cubicBezTo>
                  <a:lnTo>
                    <a:pt x="5267960" y="1583182"/>
                  </a:lnTo>
                  <a:cubicBezTo>
                    <a:pt x="5267960" y="1692529"/>
                    <a:pt x="5179314" y="1781048"/>
                    <a:pt x="5070094" y="1781048"/>
                  </a:cubicBezTo>
                  <a:lnTo>
                    <a:pt x="197866" y="1781048"/>
                  </a:lnTo>
                  <a:cubicBezTo>
                    <a:pt x="88646" y="1781048"/>
                    <a:pt x="0" y="1692402"/>
                    <a:pt x="0" y="158318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21159" y="4760471"/>
            <a:ext cx="939803" cy="939803"/>
            <a:chOff x="0" y="0"/>
            <a:chExt cx="1253071" cy="12530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62456" y="5001768"/>
            <a:ext cx="457200" cy="457200"/>
            <a:chOff x="0" y="0"/>
            <a:chExt cx="609600" cy="609600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2286000" y="4754880"/>
            <a:ext cx="2468880" cy="457200"/>
            <a:chOff x="0" y="0"/>
            <a:chExt cx="3291840" cy="609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291840" cy="609600"/>
            </a:xfrm>
            <a:custGeom>
              <a:avLst/>
              <a:gdLst/>
              <a:ahLst/>
              <a:cxnLst/>
              <a:rect r="r" b="b" t="t" l="l"/>
              <a:pathLst>
                <a:path h="6096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32918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REST API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273303" y="5327399"/>
            <a:ext cx="939803" cy="391163"/>
            <a:chOff x="0" y="0"/>
            <a:chExt cx="1253071" cy="52155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53109" cy="521589"/>
            </a:xfrm>
            <a:custGeom>
              <a:avLst/>
              <a:gdLst/>
              <a:ahLst/>
              <a:cxnLst/>
              <a:rect r="r" b="b" t="t" l="l"/>
              <a:pathLst>
                <a:path h="521589" w="125310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992251" y="0"/>
                  </a:lnTo>
                  <a:cubicBezTo>
                    <a:pt x="1136269" y="0"/>
                    <a:pt x="1253109" y="116713"/>
                    <a:pt x="1253109" y="260731"/>
                  </a:cubicBezTo>
                  <a:cubicBezTo>
                    <a:pt x="1253109" y="404749"/>
                    <a:pt x="1136269" y="521589"/>
                    <a:pt x="992251" y="521589"/>
                  </a:cubicBezTo>
                  <a:lnTo>
                    <a:pt x="260731" y="521589"/>
                  </a:lnTo>
                  <a:cubicBezTo>
                    <a:pt x="116713" y="521589"/>
                    <a:pt x="0" y="404749"/>
                    <a:pt x="0" y="260731"/>
                  </a:cubicBezTo>
                  <a:close/>
                </a:path>
              </a:pathLst>
            </a:custGeom>
            <a:solidFill>
              <a:srgbClr val="5F7A5C"/>
            </a:solidFill>
            <a:ln w="25400" cap="sq">
              <a:solidFill>
                <a:srgbClr val="5F7A5C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2286000" y="5340096"/>
            <a:ext cx="914400" cy="365760"/>
            <a:chOff x="0" y="0"/>
            <a:chExt cx="1219200" cy="4876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19200" cy="487680"/>
            </a:xfrm>
            <a:custGeom>
              <a:avLst/>
              <a:gdLst/>
              <a:ahLst/>
              <a:cxnLst/>
              <a:rect r="r" b="b" t="t" l="l"/>
              <a:pathLst>
                <a:path h="4876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12192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019675" y="4562475"/>
            <a:ext cx="3950970" cy="1335786"/>
            <a:chOff x="0" y="0"/>
            <a:chExt cx="5267960" cy="178104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267960" cy="1781048"/>
            </a:xfrm>
            <a:custGeom>
              <a:avLst/>
              <a:gdLst/>
              <a:ahLst/>
              <a:cxnLst/>
              <a:rect r="r" b="b" t="t" l="l"/>
              <a:pathLst>
                <a:path h="1781048" w="5267960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5070094" y="0"/>
                  </a:lnTo>
                  <a:cubicBezTo>
                    <a:pt x="5179441" y="0"/>
                    <a:pt x="5267960" y="88646"/>
                    <a:pt x="5267960" y="197866"/>
                  </a:cubicBezTo>
                  <a:lnTo>
                    <a:pt x="5267960" y="1583182"/>
                  </a:lnTo>
                  <a:cubicBezTo>
                    <a:pt x="5267960" y="1692529"/>
                    <a:pt x="5179314" y="1781048"/>
                    <a:pt x="5070094" y="1781048"/>
                  </a:cubicBezTo>
                  <a:lnTo>
                    <a:pt x="197866" y="1781048"/>
                  </a:lnTo>
                  <a:cubicBezTo>
                    <a:pt x="88646" y="1781048"/>
                    <a:pt x="0" y="1692402"/>
                    <a:pt x="0" y="158318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5235959" y="4760471"/>
            <a:ext cx="939803" cy="939803"/>
            <a:chOff x="0" y="0"/>
            <a:chExt cx="1253071" cy="125307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5477256" y="5001768"/>
            <a:ext cx="457200" cy="457200"/>
            <a:chOff x="0" y="0"/>
            <a:chExt cx="609600" cy="609600"/>
          </a:xfrm>
        </p:grpSpPr>
        <p:sp>
          <p:nvSpPr>
            <p:cNvPr name="Freeform 64" id="64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400800" y="4754880"/>
            <a:ext cx="2468880" cy="457200"/>
            <a:chOff x="0" y="0"/>
            <a:chExt cx="3291840" cy="6096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291840" cy="609600"/>
            </a:xfrm>
            <a:custGeom>
              <a:avLst/>
              <a:gdLst/>
              <a:ahLst/>
              <a:cxnLst/>
              <a:rect r="r" b="b" t="t" l="l"/>
              <a:pathLst>
                <a:path h="6096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32918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388103" y="5327399"/>
            <a:ext cx="939803" cy="391163"/>
            <a:chOff x="0" y="0"/>
            <a:chExt cx="1253071" cy="52155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53109" cy="521589"/>
            </a:xfrm>
            <a:custGeom>
              <a:avLst/>
              <a:gdLst/>
              <a:ahLst/>
              <a:cxnLst/>
              <a:rect r="r" b="b" t="t" l="l"/>
              <a:pathLst>
                <a:path h="521589" w="125310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992251" y="0"/>
                  </a:lnTo>
                  <a:cubicBezTo>
                    <a:pt x="1136269" y="0"/>
                    <a:pt x="1253109" y="116713"/>
                    <a:pt x="1253109" y="260731"/>
                  </a:cubicBezTo>
                  <a:cubicBezTo>
                    <a:pt x="1253109" y="404749"/>
                    <a:pt x="1136269" y="521589"/>
                    <a:pt x="992251" y="521589"/>
                  </a:cubicBezTo>
                  <a:lnTo>
                    <a:pt x="260731" y="521589"/>
                  </a:lnTo>
                  <a:cubicBezTo>
                    <a:pt x="116713" y="521589"/>
                    <a:pt x="0" y="404749"/>
                    <a:pt x="0" y="260731"/>
                  </a:cubicBezTo>
                  <a:close/>
                </a:path>
              </a:pathLst>
            </a:custGeom>
            <a:solidFill>
              <a:srgbClr val="5F7A5C"/>
            </a:solidFill>
            <a:ln w="25400" cap="sq">
              <a:solidFill>
                <a:srgbClr val="5F7A5C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6400800" y="5340096"/>
            <a:ext cx="914400" cy="365760"/>
            <a:chOff x="0" y="0"/>
            <a:chExt cx="1219200" cy="4876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19200" cy="487680"/>
            </a:xfrm>
            <a:custGeom>
              <a:avLst/>
              <a:gdLst/>
              <a:ahLst/>
              <a:cxnLst/>
              <a:rect r="r" b="b" t="t" l="l"/>
              <a:pathLst>
                <a:path h="4876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12192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04875" y="6208395"/>
            <a:ext cx="8065770" cy="1939290"/>
            <a:chOff x="0" y="0"/>
            <a:chExt cx="10754360" cy="25857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754360" cy="2585720"/>
            </a:xfrm>
            <a:custGeom>
              <a:avLst/>
              <a:gdLst/>
              <a:ahLst/>
              <a:cxnLst/>
              <a:rect r="r" b="b" t="t" l="l"/>
              <a:pathLst>
                <a:path h="2585720" w="10754360">
                  <a:moveTo>
                    <a:pt x="0" y="196977"/>
                  </a:moveTo>
                  <a:cubicBezTo>
                    <a:pt x="0" y="88265"/>
                    <a:pt x="88265" y="0"/>
                    <a:pt x="196977" y="0"/>
                  </a:cubicBezTo>
                  <a:lnTo>
                    <a:pt x="10557383" y="0"/>
                  </a:lnTo>
                  <a:cubicBezTo>
                    <a:pt x="10666222" y="0"/>
                    <a:pt x="10754360" y="88265"/>
                    <a:pt x="10754360" y="196977"/>
                  </a:cubicBezTo>
                  <a:lnTo>
                    <a:pt x="10754360" y="2388743"/>
                  </a:lnTo>
                  <a:cubicBezTo>
                    <a:pt x="10754360" y="2497582"/>
                    <a:pt x="10666095" y="2585720"/>
                    <a:pt x="10557383" y="2585720"/>
                  </a:cubicBezTo>
                  <a:lnTo>
                    <a:pt x="196977" y="2585720"/>
                  </a:lnTo>
                  <a:cubicBezTo>
                    <a:pt x="88265" y="2585720"/>
                    <a:pt x="0" y="2497455"/>
                    <a:pt x="0" y="2388743"/>
                  </a:cubicBezTo>
                  <a:close/>
                </a:path>
              </a:pathLst>
            </a:custGeom>
            <a:solidFill>
              <a:srgbClr val="F7F9F8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243584" y="6364224"/>
            <a:ext cx="7315200" cy="365760"/>
            <a:chOff x="0" y="0"/>
            <a:chExt cx="9753600" cy="4876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75360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9753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b="true" sz="1899" spc="399">
                  <a:solidFill>
                    <a:srgbClr val="6E7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 DEMO  ·  NO SERVER, 2,000-ROW CSV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80160" y="6803136"/>
            <a:ext cx="2011680" cy="658368"/>
            <a:chOff x="0" y="0"/>
            <a:chExt cx="2682240" cy="87782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682240" cy="877824"/>
            </a:xfrm>
            <a:custGeom>
              <a:avLst/>
              <a:gdLst/>
              <a:ahLst/>
              <a:cxnLst/>
              <a:rect r="r" b="b" t="t" l="l"/>
              <a:pathLst>
                <a:path h="87782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37" r="0" b="-953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26822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23706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2,000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80160" y="7498080"/>
            <a:ext cx="2377440" cy="402336"/>
            <a:chOff x="0" y="0"/>
            <a:chExt cx="3169920" cy="53644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169920" cy="536448"/>
            </a:xfrm>
            <a:custGeom>
              <a:avLst/>
              <a:gdLst/>
              <a:ahLst/>
              <a:cxnLst/>
              <a:rect r="r" b="b" t="t" l="l"/>
              <a:pathLst>
                <a:path h="53644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3169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rows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3749040" y="6803136"/>
            <a:ext cx="2377440" cy="658368"/>
            <a:chOff x="0" y="0"/>
            <a:chExt cx="3169920" cy="87782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169920" cy="877824"/>
            </a:xfrm>
            <a:custGeom>
              <a:avLst/>
              <a:gdLst/>
              <a:ahLst/>
              <a:cxnLst/>
              <a:rect r="r" b="b" t="t" l="l"/>
              <a:pathLst>
                <a:path h="877824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316992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BC6B4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52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3749040" y="7498080"/>
            <a:ext cx="2743200" cy="402336"/>
            <a:chOff x="0" y="0"/>
            <a:chExt cx="3657600" cy="53644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657600" cy="536448"/>
            </a:xfrm>
            <a:custGeom>
              <a:avLst/>
              <a:gdLst/>
              <a:ahLst/>
              <a:cxnLst/>
              <a:rect r="r" b="b" t="t" l="l"/>
              <a:pathLst>
                <a:path h="5364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3657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alerts · 2.6% budget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6583680" y="6803136"/>
            <a:ext cx="2194560" cy="658368"/>
            <a:chOff x="0" y="0"/>
            <a:chExt cx="2926080" cy="87782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926080" cy="877824"/>
            </a:xfrm>
            <a:custGeom>
              <a:avLst/>
              <a:gdLst/>
              <a:ahLst/>
              <a:cxnLst/>
              <a:rect r="r" b="b" t="t" l="l"/>
              <a:pathLst>
                <a:path h="87782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292608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23706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46.5%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6583680" y="7498080"/>
            <a:ext cx="2560320" cy="402336"/>
            <a:chOff x="0" y="0"/>
            <a:chExt cx="3413760" cy="53644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413760" cy="536448"/>
            </a:xfrm>
            <a:custGeom>
              <a:avLst/>
              <a:gdLst/>
              <a:ahLst/>
              <a:cxnLst/>
              <a:rect r="r" b="b" t="t" l="l"/>
              <a:pathLst>
                <a:path h="536448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34137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unseen</a:t>
              </a:r>
            </a:p>
          </p:txBody>
        </p:sp>
      </p:grpSp>
      <p:sp>
        <p:nvSpPr>
          <p:cNvPr name="AutoShape 96" id="96"/>
          <p:cNvSpPr/>
          <p:nvPr/>
        </p:nvSpPr>
        <p:spPr>
          <a:xfrm rot="222900">
            <a:off x="3129143" y="7127557"/>
            <a:ext cx="489976" cy="0"/>
          </a:xfrm>
          <a:prstGeom prst="line">
            <a:avLst/>
          </a:prstGeom>
          <a:ln cap="rnd" w="9525">
            <a:solidFill>
              <a:srgbClr val="6E7B8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7" id="97"/>
          <p:cNvSpPr/>
          <p:nvPr/>
        </p:nvSpPr>
        <p:spPr>
          <a:xfrm rot="222900">
            <a:off x="6018647" y="7127557"/>
            <a:ext cx="489976" cy="0"/>
          </a:xfrm>
          <a:prstGeom prst="line">
            <a:avLst/>
          </a:prstGeom>
          <a:ln cap="rnd" w="9525">
            <a:solidFill>
              <a:srgbClr val="6E7B82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8" id="98"/>
          <p:cNvGrpSpPr/>
          <p:nvPr/>
        </p:nvGrpSpPr>
        <p:grpSpPr>
          <a:xfrm rot="0">
            <a:off x="914400" y="8540496"/>
            <a:ext cx="2743200" cy="512064"/>
            <a:chOff x="0" y="0"/>
            <a:chExt cx="3657600" cy="6827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52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Exports in 5 formats: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3644903" y="8546087"/>
            <a:ext cx="976379" cy="500891"/>
            <a:chOff x="0" y="0"/>
            <a:chExt cx="1301839" cy="66785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301750" cy="667893"/>
            </a:xfrm>
            <a:custGeom>
              <a:avLst/>
              <a:gdLst/>
              <a:ahLst/>
              <a:cxnLst/>
              <a:rect r="r" b="b" t="t" l="l"/>
              <a:pathLst>
                <a:path h="667893" w="1301750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967867" y="0"/>
                  </a:lnTo>
                  <a:cubicBezTo>
                    <a:pt x="1152271" y="0"/>
                    <a:pt x="1301750" y="149479"/>
                    <a:pt x="1301750" y="333883"/>
                  </a:cubicBezTo>
                  <a:cubicBezTo>
                    <a:pt x="1301750" y="518287"/>
                    <a:pt x="1152271" y="667893"/>
                    <a:pt x="967867" y="667893"/>
                  </a:cubicBezTo>
                  <a:lnTo>
                    <a:pt x="333883" y="667893"/>
                  </a:lnTo>
                  <a:cubicBezTo>
                    <a:pt x="149479" y="667893"/>
                    <a:pt x="0" y="518287"/>
                    <a:pt x="0" y="333883"/>
                  </a:cubicBezTo>
                  <a:close/>
                </a:path>
              </a:pathLst>
            </a:custGeom>
            <a:solidFill>
              <a:srgbClr val="E1F0EE"/>
            </a:solidFill>
            <a:ln w="25400" cap="sq">
              <a:solidFill>
                <a:srgbClr val="E1F0EE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3657600" y="8558784"/>
            <a:ext cx="950976" cy="475488"/>
            <a:chOff x="0" y="0"/>
            <a:chExt cx="1267968" cy="63398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267968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126796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2370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CSV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4705607" y="8546087"/>
            <a:ext cx="976379" cy="500891"/>
            <a:chOff x="0" y="0"/>
            <a:chExt cx="1301839" cy="667855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301750" cy="667893"/>
            </a:xfrm>
            <a:custGeom>
              <a:avLst/>
              <a:gdLst/>
              <a:ahLst/>
              <a:cxnLst/>
              <a:rect r="r" b="b" t="t" l="l"/>
              <a:pathLst>
                <a:path h="667893" w="1301750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967867" y="0"/>
                  </a:lnTo>
                  <a:cubicBezTo>
                    <a:pt x="1152271" y="0"/>
                    <a:pt x="1301750" y="149479"/>
                    <a:pt x="1301750" y="333883"/>
                  </a:cubicBezTo>
                  <a:cubicBezTo>
                    <a:pt x="1301750" y="518287"/>
                    <a:pt x="1152271" y="667893"/>
                    <a:pt x="967867" y="667893"/>
                  </a:cubicBezTo>
                  <a:lnTo>
                    <a:pt x="333883" y="667893"/>
                  </a:lnTo>
                  <a:cubicBezTo>
                    <a:pt x="149479" y="667893"/>
                    <a:pt x="0" y="518287"/>
                    <a:pt x="0" y="333883"/>
                  </a:cubicBezTo>
                  <a:close/>
                </a:path>
              </a:pathLst>
            </a:custGeom>
            <a:solidFill>
              <a:srgbClr val="F8F1E7"/>
            </a:solidFill>
            <a:ln w="25400" cap="sq">
              <a:solidFill>
                <a:srgbClr val="F8F1E7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4718304" y="8558784"/>
            <a:ext cx="950976" cy="475488"/>
            <a:chOff x="0" y="0"/>
            <a:chExt cx="1267968" cy="63398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267968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126796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8A5A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JSON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5766311" y="8546087"/>
            <a:ext cx="976379" cy="500891"/>
            <a:chOff x="0" y="0"/>
            <a:chExt cx="1301839" cy="667855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301750" cy="667893"/>
            </a:xfrm>
            <a:custGeom>
              <a:avLst/>
              <a:gdLst/>
              <a:ahLst/>
              <a:cxnLst/>
              <a:rect r="r" b="b" t="t" l="l"/>
              <a:pathLst>
                <a:path h="667893" w="1301750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967867" y="0"/>
                  </a:lnTo>
                  <a:cubicBezTo>
                    <a:pt x="1152271" y="0"/>
                    <a:pt x="1301750" y="149479"/>
                    <a:pt x="1301750" y="333883"/>
                  </a:cubicBezTo>
                  <a:cubicBezTo>
                    <a:pt x="1301750" y="518287"/>
                    <a:pt x="1152271" y="667893"/>
                    <a:pt x="967867" y="667893"/>
                  </a:cubicBezTo>
                  <a:lnTo>
                    <a:pt x="333883" y="667893"/>
                  </a:lnTo>
                  <a:cubicBezTo>
                    <a:pt x="149479" y="667893"/>
                    <a:pt x="0" y="518287"/>
                    <a:pt x="0" y="333883"/>
                  </a:cubicBezTo>
                  <a:close/>
                </a:path>
              </a:pathLst>
            </a:custGeom>
            <a:solidFill>
              <a:srgbClr val="E1F0EE"/>
            </a:solidFill>
            <a:ln w="25400" cap="sq">
              <a:solidFill>
                <a:srgbClr val="E1F0EE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5779008" y="8558784"/>
            <a:ext cx="950976" cy="475488"/>
            <a:chOff x="0" y="0"/>
            <a:chExt cx="1267968" cy="63398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267968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126796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2370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MD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6827015" y="8546087"/>
            <a:ext cx="976379" cy="500891"/>
            <a:chOff x="0" y="0"/>
            <a:chExt cx="1301839" cy="667855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301750" cy="667893"/>
            </a:xfrm>
            <a:custGeom>
              <a:avLst/>
              <a:gdLst/>
              <a:ahLst/>
              <a:cxnLst/>
              <a:rect r="r" b="b" t="t" l="l"/>
              <a:pathLst>
                <a:path h="667893" w="1301750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967867" y="0"/>
                  </a:lnTo>
                  <a:cubicBezTo>
                    <a:pt x="1152271" y="0"/>
                    <a:pt x="1301750" y="149479"/>
                    <a:pt x="1301750" y="333883"/>
                  </a:cubicBezTo>
                  <a:cubicBezTo>
                    <a:pt x="1301750" y="518287"/>
                    <a:pt x="1152271" y="667893"/>
                    <a:pt x="967867" y="667893"/>
                  </a:cubicBezTo>
                  <a:lnTo>
                    <a:pt x="333883" y="667893"/>
                  </a:lnTo>
                  <a:cubicBezTo>
                    <a:pt x="149479" y="667893"/>
                    <a:pt x="0" y="518287"/>
                    <a:pt x="0" y="333883"/>
                  </a:cubicBezTo>
                  <a:close/>
                </a:path>
              </a:pathLst>
            </a:custGeom>
            <a:solidFill>
              <a:srgbClr val="F8F1E7"/>
            </a:solidFill>
            <a:ln w="25400" cap="sq">
              <a:solidFill>
                <a:srgbClr val="F8F1E7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6839712" y="8558784"/>
            <a:ext cx="950976" cy="475488"/>
            <a:chOff x="0" y="0"/>
            <a:chExt cx="1267968" cy="63398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267968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126796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8A5A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TXT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7887719" y="8546087"/>
            <a:ext cx="976379" cy="500891"/>
            <a:chOff x="0" y="0"/>
            <a:chExt cx="1301839" cy="667855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301750" cy="667893"/>
            </a:xfrm>
            <a:custGeom>
              <a:avLst/>
              <a:gdLst/>
              <a:ahLst/>
              <a:cxnLst/>
              <a:rect r="r" b="b" t="t" l="l"/>
              <a:pathLst>
                <a:path h="667893" w="1301750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967867" y="0"/>
                  </a:lnTo>
                  <a:cubicBezTo>
                    <a:pt x="1152271" y="0"/>
                    <a:pt x="1301750" y="149479"/>
                    <a:pt x="1301750" y="333883"/>
                  </a:cubicBezTo>
                  <a:cubicBezTo>
                    <a:pt x="1301750" y="518287"/>
                    <a:pt x="1152271" y="667893"/>
                    <a:pt x="967867" y="667893"/>
                  </a:cubicBezTo>
                  <a:lnTo>
                    <a:pt x="333883" y="667893"/>
                  </a:lnTo>
                  <a:cubicBezTo>
                    <a:pt x="149479" y="667893"/>
                    <a:pt x="0" y="518287"/>
                    <a:pt x="0" y="333883"/>
                  </a:cubicBezTo>
                  <a:close/>
                </a:path>
              </a:pathLst>
            </a:custGeom>
            <a:solidFill>
              <a:srgbClr val="E1F0EE"/>
            </a:solidFill>
            <a:ln w="25400" cap="sq">
              <a:solidFill>
                <a:srgbClr val="E1F0EE"/>
              </a:solidFill>
              <a:prstDash val="solid"/>
              <a:miter/>
            </a:ln>
          </p:spPr>
        </p:sp>
      </p:grpSp>
      <p:grpSp>
        <p:nvGrpSpPr>
          <p:cNvPr name="Group 123" id="123"/>
          <p:cNvGrpSpPr/>
          <p:nvPr/>
        </p:nvGrpSpPr>
        <p:grpSpPr>
          <a:xfrm rot="0">
            <a:off x="7900416" y="8558784"/>
            <a:ext cx="950976" cy="475488"/>
            <a:chOff x="0" y="0"/>
            <a:chExt cx="1267968" cy="633984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267968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126796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2370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PDF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690735" y="2560320"/>
            <a:ext cx="7863840" cy="365760"/>
            <a:chOff x="0" y="0"/>
            <a:chExt cx="10485120" cy="48768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0485120" cy="487680"/>
            </a:xfrm>
            <a:custGeom>
              <a:avLst/>
              <a:gdLst/>
              <a:ahLst/>
              <a:cxnLst/>
              <a:rect r="r" b="b" t="t" l="l"/>
              <a:pathLst>
                <a:path h="4876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104851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b="true" sz="1899" spc="399">
                  <a:solidFill>
                    <a:srgbClr val="6E7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BUILT OFFLINE  ·  STILL BULLETPROOF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9681210" y="3062859"/>
            <a:ext cx="7882890" cy="1884426"/>
            <a:chOff x="0" y="0"/>
            <a:chExt cx="10510520" cy="2512568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0510520" cy="2512568"/>
            </a:xfrm>
            <a:custGeom>
              <a:avLst/>
              <a:gdLst/>
              <a:ahLst/>
              <a:cxnLst/>
              <a:rect r="r" b="b" t="t" l="l"/>
              <a:pathLst>
                <a:path h="2512568" w="10510520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10313416" y="0"/>
                  </a:lnTo>
                  <a:cubicBezTo>
                    <a:pt x="10422255" y="0"/>
                    <a:pt x="10510520" y="88265"/>
                    <a:pt x="10510520" y="197104"/>
                  </a:cubicBezTo>
                  <a:lnTo>
                    <a:pt x="10510520" y="2315464"/>
                  </a:lnTo>
                  <a:cubicBezTo>
                    <a:pt x="10510520" y="2424303"/>
                    <a:pt x="10422255" y="2512568"/>
                    <a:pt x="10313416" y="2512568"/>
                  </a:cubicBezTo>
                  <a:lnTo>
                    <a:pt x="197104" y="2512568"/>
                  </a:lnTo>
                  <a:cubicBezTo>
                    <a:pt x="88265" y="2512568"/>
                    <a:pt x="0" y="2424303"/>
                    <a:pt x="0" y="2315464"/>
                  </a:cubicBezTo>
                  <a:close/>
                </a:path>
              </a:pathLst>
            </a:custGeom>
            <a:solidFill>
              <a:srgbClr val="F8F1E7"/>
            </a:solidFill>
            <a:ln w="1905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31" id="131"/>
          <p:cNvGrpSpPr/>
          <p:nvPr/>
        </p:nvGrpSpPr>
        <p:grpSpPr>
          <a:xfrm rot="0">
            <a:off x="9897494" y="3279143"/>
            <a:ext cx="866651" cy="866651"/>
            <a:chOff x="0" y="0"/>
            <a:chExt cx="1155535" cy="1155535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C79A5B"/>
            </a:solidFill>
            <a:ln w="25400" cap="sq">
              <a:solidFill>
                <a:srgbClr val="C79A5B"/>
              </a:solidFill>
              <a:prstDash val="solid"/>
              <a:miter/>
            </a:ln>
          </p:spPr>
        </p:sp>
      </p:grpSp>
      <p:grpSp>
        <p:nvGrpSpPr>
          <p:cNvPr name="Group 133" id="133"/>
          <p:cNvGrpSpPr/>
          <p:nvPr/>
        </p:nvGrpSpPr>
        <p:grpSpPr>
          <a:xfrm rot="0">
            <a:off x="10120503" y="3502152"/>
            <a:ext cx="420624" cy="420624"/>
            <a:chOff x="0" y="0"/>
            <a:chExt cx="560832" cy="560832"/>
          </a:xfrm>
        </p:grpSpPr>
        <p:sp>
          <p:nvSpPr>
            <p:cNvPr name="Freeform 134" id="134" descr="preencoded.png"/>
            <p:cNvSpPr/>
            <p:nvPr/>
          </p:nvSpPr>
          <p:spPr>
            <a:xfrm flipH="false" flipV="false" rot="0">
              <a:off x="0" y="0"/>
              <a:ext cx="560832" cy="560832"/>
            </a:xfrm>
            <a:custGeom>
              <a:avLst/>
              <a:gdLst/>
              <a:ahLst/>
              <a:cxnLst/>
              <a:rect r="r" b="b" t="t" l="l"/>
              <a:pathLst>
                <a:path h="560832" w="560832">
                  <a:moveTo>
                    <a:pt x="0" y="0"/>
                  </a:moveTo>
                  <a:lnTo>
                    <a:pt x="560832" y="0"/>
                  </a:lnTo>
                  <a:lnTo>
                    <a:pt x="560832" y="560832"/>
                  </a:lnTo>
                  <a:lnTo>
                    <a:pt x="0" y="560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35" id="135"/>
          <p:cNvSpPr txBox="true"/>
          <p:nvPr/>
        </p:nvSpPr>
        <p:spPr>
          <a:xfrm rot="0">
            <a:off x="10970895" y="3171063"/>
            <a:ext cx="640080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243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internet at build time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44525A"/>
                </a:solidFill>
                <a:latin typeface="Calibri (MS)"/>
                <a:ea typeface="Calibri (MS)"/>
                <a:cs typeface="Calibri (MS)"/>
                <a:sym typeface="Calibri (MS)"/>
              </a:rPr>
              <a:t>Auto-detects LightGBM at runtime; falls back to HistGradientBoosting.</a:t>
            </a:r>
          </a:p>
        </p:txBody>
      </p:sp>
      <p:grpSp>
        <p:nvGrpSpPr>
          <p:cNvPr name="Group 136" id="136"/>
          <p:cNvGrpSpPr/>
          <p:nvPr/>
        </p:nvGrpSpPr>
        <p:grpSpPr>
          <a:xfrm rot="0">
            <a:off x="10970895" y="4517136"/>
            <a:ext cx="256032" cy="256032"/>
            <a:chOff x="0" y="0"/>
            <a:chExt cx="341376" cy="341376"/>
          </a:xfrm>
        </p:grpSpPr>
        <p:sp>
          <p:nvSpPr>
            <p:cNvPr name="Freeform 137" id="137" descr="preencoded.png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11336655" y="4443984"/>
            <a:ext cx="6035040" cy="402336"/>
            <a:chOff x="0" y="0"/>
            <a:chExt cx="8046720" cy="536448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8046720" cy="536448"/>
            </a:xfrm>
            <a:custGeom>
              <a:avLst/>
              <a:gdLst/>
              <a:ahLst/>
              <a:cxnLst/>
              <a:rect r="r" b="b" t="t" l="l"/>
              <a:pathLst>
                <a:path h="53644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80467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5F7A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+ dashboard covered by QA (18/18)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9681210" y="5129403"/>
            <a:ext cx="7882890" cy="1884426"/>
            <a:chOff x="0" y="0"/>
            <a:chExt cx="10510520" cy="251256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0510520" cy="2512568"/>
            </a:xfrm>
            <a:custGeom>
              <a:avLst/>
              <a:gdLst/>
              <a:ahLst/>
              <a:cxnLst/>
              <a:rect r="r" b="b" t="t" l="l"/>
              <a:pathLst>
                <a:path h="2512568" w="10510520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10313416" y="0"/>
                  </a:lnTo>
                  <a:cubicBezTo>
                    <a:pt x="10422255" y="0"/>
                    <a:pt x="10510520" y="88265"/>
                    <a:pt x="10510520" y="197104"/>
                  </a:cubicBezTo>
                  <a:lnTo>
                    <a:pt x="10510520" y="2315464"/>
                  </a:lnTo>
                  <a:cubicBezTo>
                    <a:pt x="10510520" y="2424303"/>
                    <a:pt x="10422255" y="2512568"/>
                    <a:pt x="10313416" y="2512568"/>
                  </a:cubicBezTo>
                  <a:lnTo>
                    <a:pt x="197104" y="2512568"/>
                  </a:lnTo>
                  <a:cubicBezTo>
                    <a:pt x="88265" y="2512568"/>
                    <a:pt x="0" y="2424303"/>
                    <a:pt x="0" y="2315464"/>
                  </a:cubicBezTo>
                  <a:close/>
                </a:path>
              </a:pathLst>
            </a:custGeom>
            <a:solidFill>
              <a:srgbClr val="F8F1E7"/>
            </a:solidFill>
            <a:ln w="1905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43" id="143"/>
          <p:cNvGrpSpPr/>
          <p:nvPr/>
        </p:nvGrpSpPr>
        <p:grpSpPr>
          <a:xfrm rot="0">
            <a:off x="9897494" y="5345687"/>
            <a:ext cx="866651" cy="866651"/>
            <a:chOff x="0" y="0"/>
            <a:chExt cx="1155535" cy="1155535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C79A5B"/>
            </a:solidFill>
            <a:ln w="25400" cap="sq">
              <a:solidFill>
                <a:srgbClr val="C79A5B"/>
              </a:solidFill>
              <a:prstDash val="solid"/>
              <a:miter/>
            </a:ln>
          </p:spPr>
        </p:sp>
      </p:grpSp>
      <p:grpSp>
        <p:nvGrpSpPr>
          <p:cNvPr name="Group 145" id="145"/>
          <p:cNvGrpSpPr/>
          <p:nvPr/>
        </p:nvGrpSpPr>
        <p:grpSpPr>
          <a:xfrm rot="0">
            <a:off x="10120503" y="5568696"/>
            <a:ext cx="420624" cy="420624"/>
            <a:chOff x="0" y="0"/>
            <a:chExt cx="560832" cy="560832"/>
          </a:xfrm>
        </p:grpSpPr>
        <p:sp>
          <p:nvSpPr>
            <p:cNvPr name="Freeform 146" id="146" descr="preencoded.png"/>
            <p:cNvSpPr/>
            <p:nvPr/>
          </p:nvSpPr>
          <p:spPr>
            <a:xfrm flipH="false" flipV="false" rot="0">
              <a:off x="0" y="0"/>
              <a:ext cx="560832" cy="560832"/>
            </a:xfrm>
            <a:custGeom>
              <a:avLst/>
              <a:gdLst/>
              <a:ahLst/>
              <a:cxnLst/>
              <a:rect r="r" b="b" t="t" l="l"/>
              <a:pathLst>
                <a:path h="560832" w="560832">
                  <a:moveTo>
                    <a:pt x="0" y="0"/>
                  </a:moveTo>
                  <a:lnTo>
                    <a:pt x="560832" y="0"/>
                  </a:lnTo>
                  <a:lnTo>
                    <a:pt x="560832" y="560832"/>
                  </a:lnTo>
                  <a:lnTo>
                    <a:pt x="0" y="560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147" id="147"/>
          <p:cNvSpPr txBox="true"/>
          <p:nvPr/>
        </p:nvSpPr>
        <p:spPr>
          <a:xfrm rot="0">
            <a:off x="10970895" y="5237607"/>
            <a:ext cx="640080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243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native pred_contrib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44525A"/>
                </a:solidFill>
                <a:latin typeface="Calibri (MS)"/>
                <a:ea typeface="Calibri (MS)"/>
                <a:cs typeface="Calibri (MS)"/>
                <a:sym typeface="Calibri (MS)"/>
              </a:rPr>
              <a:t>Perturbation estimate replaces exact TreeSHAP; same 6 families.</a:t>
            </a:r>
          </a:p>
        </p:txBody>
      </p:sp>
      <p:grpSp>
        <p:nvGrpSpPr>
          <p:cNvPr name="Group 148" id="148"/>
          <p:cNvGrpSpPr/>
          <p:nvPr/>
        </p:nvGrpSpPr>
        <p:grpSpPr>
          <a:xfrm rot="0">
            <a:off x="10970895" y="6583680"/>
            <a:ext cx="256032" cy="256032"/>
            <a:chOff x="0" y="0"/>
            <a:chExt cx="341376" cy="341376"/>
          </a:xfrm>
        </p:grpSpPr>
        <p:sp>
          <p:nvSpPr>
            <p:cNvPr name="Freeform 149" id="149" descr="preencoded.png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11336655" y="6510528"/>
            <a:ext cx="6035040" cy="402336"/>
            <a:chOff x="0" y="0"/>
            <a:chExt cx="8046720" cy="536448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8046720" cy="536448"/>
            </a:xfrm>
            <a:custGeom>
              <a:avLst/>
              <a:gdLst/>
              <a:ahLst/>
              <a:cxnLst/>
              <a:rect r="r" b="b" t="t" l="l"/>
              <a:pathLst>
                <a:path h="53644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38100"/>
              <a:ext cx="80467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5F7A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Explanations still produced per transaction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9681210" y="7195947"/>
            <a:ext cx="7882890" cy="1884426"/>
            <a:chOff x="0" y="0"/>
            <a:chExt cx="10510520" cy="2512568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0510520" cy="2512568"/>
            </a:xfrm>
            <a:custGeom>
              <a:avLst/>
              <a:gdLst/>
              <a:ahLst/>
              <a:cxnLst/>
              <a:rect r="r" b="b" t="t" l="l"/>
              <a:pathLst>
                <a:path h="2512568" w="10510520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10313416" y="0"/>
                  </a:lnTo>
                  <a:cubicBezTo>
                    <a:pt x="10422255" y="0"/>
                    <a:pt x="10510520" y="88265"/>
                    <a:pt x="10510520" y="197104"/>
                  </a:cubicBezTo>
                  <a:lnTo>
                    <a:pt x="10510520" y="2315464"/>
                  </a:lnTo>
                  <a:cubicBezTo>
                    <a:pt x="10510520" y="2424303"/>
                    <a:pt x="10422255" y="2512568"/>
                    <a:pt x="10313416" y="2512568"/>
                  </a:cubicBezTo>
                  <a:lnTo>
                    <a:pt x="197104" y="2512568"/>
                  </a:lnTo>
                  <a:cubicBezTo>
                    <a:pt x="88265" y="2512568"/>
                    <a:pt x="0" y="2424303"/>
                    <a:pt x="0" y="2315464"/>
                  </a:cubicBezTo>
                  <a:close/>
                </a:path>
              </a:pathLst>
            </a:custGeom>
            <a:solidFill>
              <a:srgbClr val="F8F1E7"/>
            </a:solidFill>
            <a:ln w="1905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55" id="155"/>
          <p:cNvGrpSpPr/>
          <p:nvPr/>
        </p:nvGrpSpPr>
        <p:grpSpPr>
          <a:xfrm rot="0">
            <a:off x="9897494" y="7412231"/>
            <a:ext cx="866651" cy="866651"/>
            <a:chOff x="0" y="0"/>
            <a:chExt cx="1155535" cy="1155535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C79A5B"/>
            </a:solidFill>
            <a:ln w="25400" cap="sq">
              <a:solidFill>
                <a:srgbClr val="C79A5B"/>
              </a:solidFill>
              <a:prstDash val="solid"/>
              <a:miter/>
            </a:ln>
          </p:spPr>
        </p:sp>
      </p:grpSp>
      <p:grpSp>
        <p:nvGrpSpPr>
          <p:cNvPr name="Group 157" id="157"/>
          <p:cNvGrpSpPr/>
          <p:nvPr/>
        </p:nvGrpSpPr>
        <p:grpSpPr>
          <a:xfrm rot="0">
            <a:off x="10120503" y="7635240"/>
            <a:ext cx="420624" cy="420624"/>
            <a:chOff x="0" y="0"/>
            <a:chExt cx="560832" cy="560832"/>
          </a:xfrm>
        </p:grpSpPr>
        <p:sp>
          <p:nvSpPr>
            <p:cNvPr name="Freeform 158" id="158" descr="preencoded.png"/>
            <p:cNvSpPr/>
            <p:nvPr/>
          </p:nvSpPr>
          <p:spPr>
            <a:xfrm flipH="false" flipV="false" rot="0">
              <a:off x="0" y="0"/>
              <a:ext cx="560832" cy="560832"/>
            </a:xfrm>
            <a:custGeom>
              <a:avLst/>
              <a:gdLst/>
              <a:ahLst/>
              <a:cxnLst/>
              <a:rect r="r" b="b" t="t" l="l"/>
              <a:pathLst>
                <a:path h="560832" w="560832">
                  <a:moveTo>
                    <a:pt x="0" y="0"/>
                  </a:moveTo>
                  <a:lnTo>
                    <a:pt x="560832" y="0"/>
                  </a:lnTo>
                  <a:lnTo>
                    <a:pt x="560832" y="560832"/>
                  </a:lnTo>
                  <a:lnTo>
                    <a:pt x="0" y="560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159" id="159"/>
          <p:cNvSpPr txBox="true"/>
          <p:nvPr/>
        </p:nvSpPr>
        <p:spPr>
          <a:xfrm rot="0">
            <a:off x="10970895" y="7304151"/>
            <a:ext cx="640080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243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Synthetic data, not a benchmark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44525A"/>
                </a:solidFill>
                <a:latin typeface="Calibri (MS)"/>
                <a:ea typeface="Calibri (MS)"/>
                <a:cs typeface="Calibri (MS)"/>
                <a:sym typeface="Calibri (MS)"/>
              </a:rPr>
              <a:t>Labelled illustrative; dataset-agnostic; IEEE-CIS adapter built and run.</a:t>
            </a:r>
          </a:p>
        </p:txBody>
      </p:sp>
      <p:grpSp>
        <p:nvGrpSpPr>
          <p:cNvPr name="Group 160" id="160"/>
          <p:cNvGrpSpPr/>
          <p:nvPr/>
        </p:nvGrpSpPr>
        <p:grpSpPr>
          <a:xfrm rot="0">
            <a:off x="10970895" y="8650224"/>
            <a:ext cx="256032" cy="256032"/>
            <a:chOff x="0" y="0"/>
            <a:chExt cx="341376" cy="341376"/>
          </a:xfrm>
        </p:grpSpPr>
        <p:sp>
          <p:nvSpPr>
            <p:cNvPr name="Freeform 161" id="161" descr="preencoded.png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341376"/>
                  </a:lnTo>
                  <a:lnTo>
                    <a:pt x="0" y="341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1336655" y="8577072"/>
            <a:ext cx="6035040" cy="402336"/>
            <a:chOff x="0" y="0"/>
            <a:chExt cx="8046720" cy="536448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8046720" cy="536448"/>
            </a:xfrm>
            <a:custGeom>
              <a:avLst/>
              <a:gdLst/>
              <a:ahLst/>
              <a:cxnLst/>
              <a:rect r="r" b="b" t="t" l="l"/>
              <a:pathLst>
                <a:path h="53644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38100"/>
              <a:ext cx="80467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5F7A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Honest limits in README and docs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475488"/>
            <a:chOff x="0" y="0"/>
            <a:chExt cx="21945600" cy="633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945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599">
                  <a:solidFill>
                    <a:srgbClr val="2E8B8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 ·  PROTOTYPE VISUALS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656064"/>
            <a:ext cx="5486400" cy="365760"/>
            <a:chOff x="0" y="0"/>
            <a:chExt cx="7315200" cy="48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NOOB CODERS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539067"/>
            <a:ext cx="7443357" cy="3971866"/>
          </a:xfrm>
          <a:custGeom>
            <a:avLst/>
            <a:gdLst/>
            <a:ahLst/>
            <a:cxnLst/>
            <a:rect r="r" b="b" t="t" l="l"/>
            <a:pathLst>
              <a:path h="3971866" w="7443357">
                <a:moveTo>
                  <a:pt x="0" y="0"/>
                </a:moveTo>
                <a:lnTo>
                  <a:pt x="7443357" y="0"/>
                </a:lnTo>
                <a:lnTo>
                  <a:pt x="7443357" y="3971866"/>
                </a:lnTo>
                <a:lnTo>
                  <a:pt x="0" y="3971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4821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6222013"/>
            <a:ext cx="13910899" cy="2851734"/>
          </a:xfrm>
          <a:custGeom>
            <a:avLst/>
            <a:gdLst/>
            <a:ahLst/>
            <a:cxnLst/>
            <a:rect r="r" b="b" t="t" l="l"/>
            <a:pathLst>
              <a:path h="2851734" w="13910899">
                <a:moveTo>
                  <a:pt x="0" y="0"/>
                </a:moveTo>
                <a:lnTo>
                  <a:pt x="13910899" y="0"/>
                </a:lnTo>
                <a:lnTo>
                  <a:pt x="13910899" y="2851734"/>
                </a:lnTo>
                <a:lnTo>
                  <a:pt x="0" y="2851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932844" y="3814098"/>
            <a:ext cx="8326456" cy="1825598"/>
          </a:xfrm>
          <a:custGeom>
            <a:avLst/>
            <a:gdLst/>
            <a:ahLst/>
            <a:cxnLst/>
            <a:rect r="r" b="b" t="t" l="l"/>
            <a:pathLst>
              <a:path h="1825598" w="8326456">
                <a:moveTo>
                  <a:pt x="0" y="0"/>
                </a:moveTo>
                <a:lnTo>
                  <a:pt x="8326456" y="0"/>
                </a:lnTo>
                <a:lnTo>
                  <a:pt x="8326456" y="1825599"/>
                </a:lnTo>
                <a:lnTo>
                  <a:pt x="0" y="18255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20" t="-14982" r="-9398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475488"/>
            <a:chOff x="0" y="0"/>
            <a:chExt cx="21945600" cy="633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945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599">
                  <a:solidFill>
                    <a:srgbClr val="2E8B8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  <a:r>
                <a:rPr lang="en-US" b="true" sz="2100" spc="599">
                  <a:solidFill>
                    <a:srgbClr val="2E8B8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·  KEY RESULTS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1051179"/>
            <a:ext cx="1645920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true">
                <a:solidFill>
                  <a:srgbClr val="24313A"/>
                </a:solidFill>
                <a:latin typeface="Georgia Bold"/>
                <a:ea typeface="Georgia Bold"/>
                <a:cs typeface="Georgia Bold"/>
                <a:sym typeface="Georgia Bold"/>
              </a:rPr>
              <a:t>The numbers, honestly reported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108711"/>
            <a:ext cx="1122683" cy="98555"/>
            <a:chOff x="0" y="0"/>
            <a:chExt cx="149691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96949" cy="131445"/>
            </a:xfrm>
            <a:custGeom>
              <a:avLst/>
              <a:gdLst/>
              <a:ahLst/>
              <a:cxnLst/>
              <a:rect r="r" b="b" t="t" l="l"/>
              <a:pathLst>
                <a:path h="131445" w="1496949">
                  <a:moveTo>
                    <a:pt x="0" y="0"/>
                  </a:moveTo>
                  <a:lnTo>
                    <a:pt x="1496949" y="0"/>
                  </a:lnTo>
                  <a:lnTo>
                    <a:pt x="149694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9656064"/>
            <a:ext cx="5486400" cy="365760"/>
            <a:chOff x="0" y="0"/>
            <a:chExt cx="7315200" cy="487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NOOB CODERS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2619416"/>
            <a:ext cx="8490585" cy="4705309"/>
            <a:chOff x="0" y="0"/>
            <a:chExt cx="11485880" cy="6365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485880" cy="6365240"/>
            </a:xfrm>
            <a:custGeom>
              <a:avLst/>
              <a:gdLst/>
              <a:ahLst/>
              <a:cxnLst/>
              <a:rect r="r" b="b" t="t" l="l"/>
              <a:pathLst>
                <a:path h="6365240" w="11485880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11290046" y="0"/>
                  </a:lnTo>
                  <a:cubicBezTo>
                    <a:pt x="11398250" y="0"/>
                    <a:pt x="11485880" y="87630"/>
                    <a:pt x="11485880" y="195834"/>
                  </a:cubicBezTo>
                  <a:lnTo>
                    <a:pt x="11485880" y="6169406"/>
                  </a:lnTo>
                  <a:cubicBezTo>
                    <a:pt x="11485880" y="6277610"/>
                    <a:pt x="11398250" y="6365240"/>
                    <a:pt x="11290046" y="6365240"/>
                  </a:cubicBezTo>
                  <a:lnTo>
                    <a:pt x="195834" y="6365240"/>
                  </a:lnTo>
                  <a:cubicBezTo>
                    <a:pt x="87630" y="6365240"/>
                    <a:pt x="0" y="6277610"/>
                    <a:pt x="0" y="6169406"/>
                  </a:cubicBezTo>
                  <a:close/>
                </a:path>
              </a:pathLst>
            </a:custGeom>
            <a:solidFill>
              <a:srgbClr val="F7F9F8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67463" y="2767079"/>
            <a:ext cx="4231643" cy="500891"/>
            <a:chOff x="0" y="0"/>
            <a:chExt cx="5642191" cy="6678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42102" cy="667766"/>
            </a:xfrm>
            <a:custGeom>
              <a:avLst/>
              <a:gdLst/>
              <a:ahLst/>
              <a:cxnLst/>
              <a:rect r="r" b="b" t="t" l="l"/>
              <a:pathLst>
                <a:path h="667766" w="5642102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5308219" y="0"/>
                  </a:lnTo>
                  <a:cubicBezTo>
                    <a:pt x="5492623" y="0"/>
                    <a:pt x="5642102" y="149479"/>
                    <a:pt x="5642102" y="333883"/>
                  </a:cubicBezTo>
                  <a:cubicBezTo>
                    <a:pt x="5642102" y="518287"/>
                    <a:pt x="5492623" y="667766"/>
                    <a:pt x="5308219" y="667766"/>
                  </a:cubicBezTo>
                  <a:lnTo>
                    <a:pt x="333883" y="667766"/>
                  </a:lnTo>
                  <a:cubicBezTo>
                    <a:pt x="149479" y="667893"/>
                    <a:pt x="0" y="518287"/>
                    <a:pt x="0" y="333883"/>
                  </a:cubicBezTo>
                  <a:close/>
                </a:path>
              </a:pathLst>
            </a:custGeom>
            <a:solidFill>
              <a:srgbClr val="F8F1E7"/>
            </a:solidFill>
            <a:ln w="25400" cap="sq">
              <a:solidFill>
                <a:srgbClr val="F8F1E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80160" y="2779776"/>
            <a:ext cx="4206240" cy="475488"/>
            <a:chOff x="0" y="0"/>
            <a:chExt cx="5608320" cy="6339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08320" cy="633984"/>
            </a:xfrm>
            <a:custGeom>
              <a:avLst/>
              <a:gdLst/>
              <a:ahLst/>
              <a:cxnLst/>
              <a:rect r="r" b="b" t="t" l="l"/>
              <a:pathLst>
                <a:path h="633984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367" r="0" b="-12236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6083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8A5A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SYNTHETIC  ·  ILLUSTRATIVE</a:t>
              </a:r>
            </a:p>
          </p:txBody>
        </p:sp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74320" y="2505456"/>
            <a:ext cx="9875520" cy="484632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 rot="0">
            <a:off x="1280160" y="6729984"/>
            <a:ext cx="8046720" cy="457200"/>
            <a:chOff x="0" y="0"/>
            <a:chExt cx="1072896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28960" cy="609600"/>
            </a:xfrm>
            <a:custGeom>
              <a:avLst/>
              <a:gdLst/>
              <a:ahLst/>
              <a:cxnLst/>
              <a:rect r="r" b="b" t="t" l="l"/>
              <a:pathLst>
                <a:path h="6096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2936" r="0" b="-29293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7289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i="true">
                  <a:solidFill>
                    <a:srgbClr val="6E7B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Scale 0–1  ·  baseline re-run confirms stability: PR-AUC 0.894, ROC-AUC 0.994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65995" y="2550795"/>
            <a:ext cx="7517130" cy="4773930"/>
            <a:chOff x="0" y="0"/>
            <a:chExt cx="10022840" cy="6365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22840" cy="6365240"/>
            </a:xfrm>
            <a:custGeom>
              <a:avLst/>
              <a:gdLst/>
              <a:ahLst/>
              <a:cxnLst/>
              <a:rect r="r" b="b" t="t" l="l"/>
              <a:pathLst>
                <a:path h="6365240" w="10022840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9827006" y="0"/>
                  </a:lnTo>
                  <a:cubicBezTo>
                    <a:pt x="9935211" y="0"/>
                    <a:pt x="10022840" y="87630"/>
                    <a:pt x="10022840" y="195834"/>
                  </a:cubicBezTo>
                  <a:lnTo>
                    <a:pt x="10022840" y="6169406"/>
                  </a:lnTo>
                  <a:cubicBezTo>
                    <a:pt x="10022840" y="6277610"/>
                    <a:pt x="9935211" y="6365240"/>
                    <a:pt x="9827006" y="6365240"/>
                  </a:cubicBezTo>
                  <a:lnTo>
                    <a:pt x="195834" y="6365240"/>
                  </a:lnTo>
                  <a:cubicBezTo>
                    <a:pt x="87630" y="6365240"/>
                    <a:pt x="0" y="6277610"/>
                    <a:pt x="0" y="6169406"/>
                  </a:cubicBezTo>
                  <a:close/>
                </a:path>
              </a:pathLst>
            </a:custGeom>
            <a:solidFill>
              <a:srgbClr val="F7F9F8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228583" y="2767079"/>
            <a:ext cx="4231643" cy="500891"/>
            <a:chOff x="0" y="0"/>
            <a:chExt cx="5642191" cy="66785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42102" cy="667766"/>
            </a:xfrm>
            <a:custGeom>
              <a:avLst/>
              <a:gdLst/>
              <a:ahLst/>
              <a:cxnLst/>
              <a:rect r="r" b="b" t="t" l="l"/>
              <a:pathLst>
                <a:path h="667766" w="5642102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5308219" y="0"/>
                  </a:lnTo>
                  <a:cubicBezTo>
                    <a:pt x="5492623" y="0"/>
                    <a:pt x="5642102" y="149479"/>
                    <a:pt x="5642102" y="333883"/>
                  </a:cubicBezTo>
                  <a:cubicBezTo>
                    <a:pt x="5642102" y="518287"/>
                    <a:pt x="5492623" y="667766"/>
                    <a:pt x="5308219" y="667766"/>
                  </a:cubicBezTo>
                  <a:lnTo>
                    <a:pt x="333883" y="667766"/>
                  </a:lnTo>
                  <a:cubicBezTo>
                    <a:pt x="149479" y="667893"/>
                    <a:pt x="0" y="518287"/>
                    <a:pt x="0" y="333883"/>
                  </a:cubicBezTo>
                  <a:close/>
                </a:path>
              </a:pathLst>
            </a:custGeom>
            <a:solidFill>
              <a:srgbClr val="E1F0EE"/>
            </a:solidFill>
            <a:ln w="25400" cap="sq">
              <a:solidFill>
                <a:srgbClr val="E1F0E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241280" y="2779776"/>
            <a:ext cx="4206240" cy="475488"/>
            <a:chOff x="0" y="0"/>
            <a:chExt cx="5608320" cy="6339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08320" cy="633984"/>
            </a:xfrm>
            <a:custGeom>
              <a:avLst/>
              <a:gdLst/>
              <a:ahLst/>
              <a:cxnLst/>
              <a:rect r="r" b="b" t="t" l="l"/>
              <a:pathLst>
                <a:path h="633984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367" r="0" b="-12236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6083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2370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  ·  IEEE-CIS  ·  HONEST</a:t>
              </a:r>
            </a:p>
          </p:txBody>
        </p:sp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756648" y="3081528"/>
            <a:ext cx="3621024" cy="3621024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 rot="0">
            <a:off x="10058400" y="3383280"/>
            <a:ext cx="3017520" cy="3017520"/>
            <a:chOff x="0" y="0"/>
            <a:chExt cx="4023360" cy="4023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233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023360" cy="4042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431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0.716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058400" y="6345936"/>
            <a:ext cx="3017520" cy="365760"/>
            <a:chOff x="0" y="0"/>
            <a:chExt cx="4023360" cy="4876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023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ROC-AUC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428983" y="3462023"/>
            <a:ext cx="3683003" cy="1305563"/>
            <a:chOff x="0" y="0"/>
            <a:chExt cx="4910671" cy="174075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10709" cy="1740789"/>
            </a:xfrm>
            <a:custGeom>
              <a:avLst/>
              <a:gdLst/>
              <a:ahLst/>
              <a:cxnLst/>
              <a:rect r="r" b="b" t="t" l="l"/>
              <a:pathLst>
                <a:path h="1740789" w="4910709">
                  <a:moveTo>
                    <a:pt x="0" y="199009"/>
                  </a:moveTo>
                  <a:cubicBezTo>
                    <a:pt x="0" y="89027"/>
                    <a:pt x="89027" y="0"/>
                    <a:pt x="199009" y="0"/>
                  </a:cubicBezTo>
                  <a:lnTo>
                    <a:pt x="4711700" y="0"/>
                  </a:lnTo>
                  <a:cubicBezTo>
                    <a:pt x="4821555" y="0"/>
                    <a:pt x="4910709" y="89027"/>
                    <a:pt x="4910709" y="199009"/>
                  </a:cubicBezTo>
                  <a:lnTo>
                    <a:pt x="4910709" y="1541780"/>
                  </a:lnTo>
                  <a:cubicBezTo>
                    <a:pt x="4910709" y="1651635"/>
                    <a:pt x="4821682" y="1740789"/>
                    <a:pt x="4711700" y="1740789"/>
                  </a:cubicBezTo>
                  <a:lnTo>
                    <a:pt x="199009" y="1740789"/>
                  </a:lnTo>
                  <a:cubicBezTo>
                    <a:pt x="89027" y="1740789"/>
                    <a:pt x="0" y="1651635"/>
                    <a:pt x="0" y="1541780"/>
                  </a:cubicBezTo>
                  <a:close/>
                </a:path>
              </a:pathLst>
            </a:custGeom>
            <a:solidFill>
              <a:srgbClr val="E1F0EE"/>
            </a:solidFill>
            <a:ln w="25400" cap="sq">
              <a:solidFill>
                <a:srgbClr val="E1F0EE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716000" y="3566160"/>
            <a:ext cx="3291840" cy="640080"/>
            <a:chOff x="0" y="0"/>
            <a:chExt cx="438912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43891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23706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0.004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716000" y="4242816"/>
            <a:ext cx="3291840" cy="402336"/>
            <a:chOff x="0" y="0"/>
            <a:chExt cx="4389120" cy="5364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89120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389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Calibration error (ECE)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428983" y="4961639"/>
            <a:ext cx="3683003" cy="1305563"/>
            <a:chOff x="0" y="0"/>
            <a:chExt cx="4910671" cy="17407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910709" cy="1740789"/>
            </a:xfrm>
            <a:custGeom>
              <a:avLst/>
              <a:gdLst/>
              <a:ahLst/>
              <a:cxnLst/>
              <a:rect r="r" b="b" t="t" l="l"/>
              <a:pathLst>
                <a:path h="1740789" w="4910709">
                  <a:moveTo>
                    <a:pt x="0" y="199009"/>
                  </a:moveTo>
                  <a:cubicBezTo>
                    <a:pt x="0" y="89027"/>
                    <a:pt x="89027" y="0"/>
                    <a:pt x="199009" y="0"/>
                  </a:cubicBezTo>
                  <a:lnTo>
                    <a:pt x="4711700" y="0"/>
                  </a:lnTo>
                  <a:cubicBezTo>
                    <a:pt x="4821555" y="0"/>
                    <a:pt x="4910709" y="89027"/>
                    <a:pt x="4910709" y="199009"/>
                  </a:cubicBezTo>
                  <a:lnTo>
                    <a:pt x="4910709" y="1541780"/>
                  </a:lnTo>
                  <a:cubicBezTo>
                    <a:pt x="4910709" y="1651635"/>
                    <a:pt x="4821682" y="1740789"/>
                    <a:pt x="4711700" y="1740789"/>
                  </a:cubicBezTo>
                  <a:lnTo>
                    <a:pt x="199009" y="1740789"/>
                  </a:lnTo>
                  <a:cubicBezTo>
                    <a:pt x="89027" y="1740789"/>
                    <a:pt x="0" y="1651635"/>
                    <a:pt x="0" y="1541780"/>
                  </a:cubicBezTo>
                  <a:close/>
                </a:path>
              </a:pathLst>
            </a:custGeom>
            <a:solidFill>
              <a:srgbClr val="F8F1E7"/>
            </a:solidFill>
            <a:ln w="25400" cap="sq">
              <a:solidFill>
                <a:srgbClr val="F8F1E7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3716000" y="5065776"/>
            <a:ext cx="3291840" cy="640080"/>
            <a:chOff x="0" y="0"/>
            <a:chExt cx="4389120" cy="8534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43891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8A5A2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1.68%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716000" y="5742432"/>
            <a:ext cx="3291840" cy="402336"/>
            <a:chOff x="0" y="0"/>
            <a:chExt cx="4389120" cy="5364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389120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389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Alerts kept, share of volume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241280" y="6766560"/>
            <a:ext cx="6949440" cy="402336"/>
            <a:chOff x="0" y="0"/>
            <a:chExt cx="9265920" cy="5364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265920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559" r="0" b="-28655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265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i="true">
                  <a:solidFill>
                    <a:srgbClr val="6E7B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Streaming + calibration engine on a hard real dataset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04875" y="7579995"/>
            <a:ext cx="9711690" cy="1756410"/>
            <a:chOff x="0" y="0"/>
            <a:chExt cx="12948920" cy="23418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948920" cy="2341880"/>
            </a:xfrm>
            <a:custGeom>
              <a:avLst/>
              <a:gdLst/>
              <a:ahLst/>
              <a:cxnLst/>
              <a:rect r="r" b="b" t="t" l="l"/>
              <a:pathLst>
                <a:path h="2341880" w="1294892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12751689" y="0"/>
                  </a:lnTo>
                  <a:cubicBezTo>
                    <a:pt x="12860655" y="0"/>
                    <a:pt x="12948920" y="88265"/>
                    <a:pt x="12948920" y="197231"/>
                  </a:cubicBezTo>
                  <a:lnTo>
                    <a:pt x="12948920" y="2144649"/>
                  </a:lnTo>
                  <a:cubicBezTo>
                    <a:pt x="12948920" y="2253615"/>
                    <a:pt x="12860655" y="2341880"/>
                    <a:pt x="12751689" y="2341880"/>
                  </a:cubicBezTo>
                  <a:lnTo>
                    <a:pt x="197231" y="2341880"/>
                  </a:lnTo>
                  <a:cubicBezTo>
                    <a:pt x="88265" y="2341880"/>
                    <a:pt x="0" y="2253615"/>
                    <a:pt x="0" y="21446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267463" y="7851143"/>
            <a:ext cx="199139" cy="199139"/>
            <a:chOff x="0" y="0"/>
            <a:chExt cx="265519" cy="26551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508865" y="7851143"/>
            <a:ext cx="199139" cy="199139"/>
            <a:chOff x="0" y="0"/>
            <a:chExt cx="265519" cy="26551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750266" y="7851143"/>
            <a:ext cx="199139" cy="199139"/>
            <a:chOff x="0" y="0"/>
            <a:chExt cx="265519" cy="26551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991668" y="7851143"/>
            <a:ext cx="199139" cy="199139"/>
            <a:chOff x="0" y="0"/>
            <a:chExt cx="265519" cy="26551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2233070" y="7851143"/>
            <a:ext cx="199139" cy="199139"/>
            <a:chOff x="0" y="0"/>
            <a:chExt cx="265519" cy="26551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2474471" y="7851143"/>
            <a:ext cx="199139" cy="199139"/>
            <a:chOff x="0" y="0"/>
            <a:chExt cx="265519" cy="26551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2715873" y="7851143"/>
            <a:ext cx="199139" cy="199139"/>
            <a:chOff x="0" y="0"/>
            <a:chExt cx="265519" cy="26551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2957274" y="7851143"/>
            <a:ext cx="199139" cy="199139"/>
            <a:chOff x="0" y="0"/>
            <a:chExt cx="265519" cy="26551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3198676" y="7851143"/>
            <a:ext cx="199139" cy="199139"/>
            <a:chOff x="0" y="0"/>
            <a:chExt cx="265519" cy="26551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3440078" y="7851143"/>
            <a:ext cx="199139" cy="199139"/>
            <a:chOff x="0" y="0"/>
            <a:chExt cx="265519" cy="26551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3681479" y="7851143"/>
            <a:ext cx="199139" cy="199139"/>
            <a:chOff x="0" y="0"/>
            <a:chExt cx="265519" cy="26551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3922881" y="7851143"/>
            <a:ext cx="199139" cy="199139"/>
            <a:chOff x="0" y="0"/>
            <a:chExt cx="265519" cy="26551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4164282" y="7851143"/>
            <a:ext cx="199139" cy="199139"/>
            <a:chOff x="0" y="0"/>
            <a:chExt cx="265519" cy="26551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4405684" y="7851143"/>
            <a:ext cx="199139" cy="199139"/>
            <a:chOff x="0" y="0"/>
            <a:chExt cx="265519" cy="26551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BC6B4C"/>
            </a:solidFill>
            <a:ln w="25400" cap="sq">
              <a:solidFill>
                <a:srgbClr val="BC6B4C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4647086" y="7851143"/>
            <a:ext cx="199139" cy="199139"/>
            <a:chOff x="0" y="0"/>
            <a:chExt cx="265519" cy="265519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4888487" y="7851143"/>
            <a:ext cx="199139" cy="199139"/>
            <a:chOff x="0" y="0"/>
            <a:chExt cx="265519" cy="26551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5129889" y="7851143"/>
            <a:ext cx="199139" cy="199139"/>
            <a:chOff x="0" y="0"/>
            <a:chExt cx="265519" cy="26551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5371290" y="7851143"/>
            <a:ext cx="199139" cy="199139"/>
            <a:chOff x="0" y="0"/>
            <a:chExt cx="265519" cy="26551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5612692" y="7851143"/>
            <a:ext cx="199139" cy="199139"/>
            <a:chOff x="0" y="0"/>
            <a:chExt cx="265519" cy="26551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5854094" y="7851143"/>
            <a:ext cx="199139" cy="199139"/>
            <a:chOff x="0" y="0"/>
            <a:chExt cx="265519" cy="26551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267463" y="8143751"/>
            <a:ext cx="199139" cy="199139"/>
            <a:chOff x="0" y="0"/>
            <a:chExt cx="265519" cy="26551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508865" y="8143751"/>
            <a:ext cx="199139" cy="199139"/>
            <a:chOff x="0" y="0"/>
            <a:chExt cx="265519" cy="265519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1750266" y="8143751"/>
            <a:ext cx="199139" cy="199139"/>
            <a:chOff x="0" y="0"/>
            <a:chExt cx="265519" cy="26551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1991668" y="8143751"/>
            <a:ext cx="199139" cy="199139"/>
            <a:chOff x="0" y="0"/>
            <a:chExt cx="265519" cy="26551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2233070" y="8143751"/>
            <a:ext cx="199139" cy="199139"/>
            <a:chOff x="0" y="0"/>
            <a:chExt cx="265519" cy="26551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2474471" y="8143751"/>
            <a:ext cx="199139" cy="199139"/>
            <a:chOff x="0" y="0"/>
            <a:chExt cx="265519" cy="26551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2715873" y="8143751"/>
            <a:ext cx="199139" cy="199139"/>
            <a:chOff x="0" y="0"/>
            <a:chExt cx="265519" cy="265519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2957274" y="8143751"/>
            <a:ext cx="199139" cy="199139"/>
            <a:chOff x="0" y="0"/>
            <a:chExt cx="265519" cy="265519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3198676" y="8143751"/>
            <a:ext cx="199139" cy="199139"/>
            <a:chOff x="0" y="0"/>
            <a:chExt cx="265519" cy="26551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3440078" y="8143751"/>
            <a:ext cx="199139" cy="199139"/>
            <a:chOff x="0" y="0"/>
            <a:chExt cx="265519" cy="265519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3681479" y="8143751"/>
            <a:ext cx="199139" cy="199139"/>
            <a:chOff x="0" y="0"/>
            <a:chExt cx="265519" cy="265519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3922881" y="8143751"/>
            <a:ext cx="199139" cy="199139"/>
            <a:chOff x="0" y="0"/>
            <a:chExt cx="265519" cy="26551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BC6B4C"/>
            </a:solidFill>
            <a:ln w="25400" cap="sq">
              <a:solidFill>
                <a:srgbClr val="BC6B4C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4164282" y="8143751"/>
            <a:ext cx="199139" cy="199139"/>
            <a:chOff x="0" y="0"/>
            <a:chExt cx="265519" cy="265519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23" id="123"/>
          <p:cNvGrpSpPr/>
          <p:nvPr/>
        </p:nvGrpSpPr>
        <p:grpSpPr>
          <a:xfrm rot="0">
            <a:off x="4405684" y="8143751"/>
            <a:ext cx="199139" cy="199139"/>
            <a:chOff x="0" y="0"/>
            <a:chExt cx="265519" cy="265519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4647086" y="8143751"/>
            <a:ext cx="199139" cy="199139"/>
            <a:chOff x="0" y="0"/>
            <a:chExt cx="265519" cy="265519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27" id="127"/>
          <p:cNvGrpSpPr/>
          <p:nvPr/>
        </p:nvGrpSpPr>
        <p:grpSpPr>
          <a:xfrm rot="0">
            <a:off x="4888487" y="8143751"/>
            <a:ext cx="199139" cy="199139"/>
            <a:chOff x="0" y="0"/>
            <a:chExt cx="265519" cy="265519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5129889" y="8143751"/>
            <a:ext cx="199139" cy="199139"/>
            <a:chOff x="0" y="0"/>
            <a:chExt cx="265519" cy="265519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31" id="131"/>
          <p:cNvGrpSpPr/>
          <p:nvPr/>
        </p:nvGrpSpPr>
        <p:grpSpPr>
          <a:xfrm rot="0">
            <a:off x="5371290" y="8143751"/>
            <a:ext cx="199139" cy="199139"/>
            <a:chOff x="0" y="0"/>
            <a:chExt cx="265519" cy="265519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33" id="133"/>
          <p:cNvGrpSpPr/>
          <p:nvPr/>
        </p:nvGrpSpPr>
        <p:grpSpPr>
          <a:xfrm rot="0">
            <a:off x="5612692" y="8143751"/>
            <a:ext cx="199139" cy="199139"/>
            <a:chOff x="0" y="0"/>
            <a:chExt cx="265519" cy="265519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35" id="135"/>
          <p:cNvGrpSpPr/>
          <p:nvPr/>
        </p:nvGrpSpPr>
        <p:grpSpPr>
          <a:xfrm rot="0">
            <a:off x="5854094" y="8143751"/>
            <a:ext cx="199139" cy="199139"/>
            <a:chOff x="0" y="0"/>
            <a:chExt cx="265519" cy="265519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37" id="137"/>
          <p:cNvGrpSpPr/>
          <p:nvPr/>
        </p:nvGrpSpPr>
        <p:grpSpPr>
          <a:xfrm rot="0">
            <a:off x="1267463" y="8436359"/>
            <a:ext cx="199139" cy="199139"/>
            <a:chOff x="0" y="0"/>
            <a:chExt cx="265519" cy="265519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39" id="139"/>
          <p:cNvGrpSpPr/>
          <p:nvPr/>
        </p:nvGrpSpPr>
        <p:grpSpPr>
          <a:xfrm rot="0">
            <a:off x="1508865" y="8436359"/>
            <a:ext cx="199139" cy="199139"/>
            <a:chOff x="0" y="0"/>
            <a:chExt cx="265519" cy="265519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41" id="141"/>
          <p:cNvGrpSpPr/>
          <p:nvPr/>
        </p:nvGrpSpPr>
        <p:grpSpPr>
          <a:xfrm rot="0">
            <a:off x="1750266" y="8436359"/>
            <a:ext cx="199139" cy="199139"/>
            <a:chOff x="0" y="0"/>
            <a:chExt cx="265519" cy="265519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43" id="143"/>
          <p:cNvGrpSpPr/>
          <p:nvPr/>
        </p:nvGrpSpPr>
        <p:grpSpPr>
          <a:xfrm rot="0">
            <a:off x="1991668" y="8436359"/>
            <a:ext cx="199139" cy="199139"/>
            <a:chOff x="0" y="0"/>
            <a:chExt cx="265519" cy="265519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45" id="145"/>
          <p:cNvGrpSpPr/>
          <p:nvPr/>
        </p:nvGrpSpPr>
        <p:grpSpPr>
          <a:xfrm rot="0">
            <a:off x="2233070" y="8436359"/>
            <a:ext cx="199139" cy="199139"/>
            <a:chOff x="0" y="0"/>
            <a:chExt cx="265519" cy="265519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47" id="147"/>
          <p:cNvGrpSpPr/>
          <p:nvPr/>
        </p:nvGrpSpPr>
        <p:grpSpPr>
          <a:xfrm rot="0">
            <a:off x="2474471" y="8436359"/>
            <a:ext cx="199139" cy="199139"/>
            <a:chOff x="0" y="0"/>
            <a:chExt cx="265519" cy="265519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49" id="149"/>
          <p:cNvGrpSpPr/>
          <p:nvPr/>
        </p:nvGrpSpPr>
        <p:grpSpPr>
          <a:xfrm rot="0">
            <a:off x="2715873" y="8436359"/>
            <a:ext cx="199139" cy="199139"/>
            <a:chOff x="0" y="0"/>
            <a:chExt cx="265519" cy="265519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51" id="151"/>
          <p:cNvGrpSpPr/>
          <p:nvPr/>
        </p:nvGrpSpPr>
        <p:grpSpPr>
          <a:xfrm rot="0">
            <a:off x="2957274" y="8436359"/>
            <a:ext cx="199139" cy="199139"/>
            <a:chOff x="0" y="0"/>
            <a:chExt cx="265519" cy="265519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BC6B4C"/>
            </a:solidFill>
            <a:ln w="25400" cap="sq">
              <a:solidFill>
                <a:srgbClr val="BC6B4C"/>
              </a:solidFill>
              <a:prstDash val="solid"/>
              <a:miter/>
            </a:ln>
          </p:spPr>
        </p:sp>
      </p:grpSp>
      <p:grpSp>
        <p:nvGrpSpPr>
          <p:cNvPr name="Group 153" id="153"/>
          <p:cNvGrpSpPr/>
          <p:nvPr/>
        </p:nvGrpSpPr>
        <p:grpSpPr>
          <a:xfrm rot="0">
            <a:off x="3198676" y="8436359"/>
            <a:ext cx="199139" cy="199139"/>
            <a:chOff x="0" y="0"/>
            <a:chExt cx="265519" cy="265519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55" id="155"/>
          <p:cNvGrpSpPr/>
          <p:nvPr/>
        </p:nvGrpSpPr>
        <p:grpSpPr>
          <a:xfrm rot="0">
            <a:off x="3440078" y="8436359"/>
            <a:ext cx="199139" cy="199139"/>
            <a:chOff x="0" y="0"/>
            <a:chExt cx="265519" cy="265519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57" id="157"/>
          <p:cNvGrpSpPr/>
          <p:nvPr/>
        </p:nvGrpSpPr>
        <p:grpSpPr>
          <a:xfrm rot="0">
            <a:off x="3681479" y="8436359"/>
            <a:ext cx="199139" cy="199139"/>
            <a:chOff x="0" y="0"/>
            <a:chExt cx="265519" cy="265519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59" id="159"/>
          <p:cNvGrpSpPr/>
          <p:nvPr/>
        </p:nvGrpSpPr>
        <p:grpSpPr>
          <a:xfrm rot="0">
            <a:off x="3922881" y="8436359"/>
            <a:ext cx="199139" cy="199139"/>
            <a:chOff x="0" y="0"/>
            <a:chExt cx="265519" cy="265519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61" id="161"/>
          <p:cNvGrpSpPr/>
          <p:nvPr/>
        </p:nvGrpSpPr>
        <p:grpSpPr>
          <a:xfrm rot="0">
            <a:off x="4164282" y="8436359"/>
            <a:ext cx="199139" cy="199139"/>
            <a:chOff x="0" y="0"/>
            <a:chExt cx="265519" cy="265519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63" id="163"/>
          <p:cNvGrpSpPr/>
          <p:nvPr/>
        </p:nvGrpSpPr>
        <p:grpSpPr>
          <a:xfrm rot="0">
            <a:off x="4405684" y="8436359"/>
            <a:ext cx="199139" cy="199139"/>
            <a:chOff x="0" y="0"/>
            <a:chExt cx="265519" cy="265519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65" id="165"/>
          <p:cNvGrpSpPr/>
          <p:nvPr/>
        </p:nvGrpSpPr>
        <p:grpSpPr>
          <a:xfrm rot="0">
            <a:off x="4647086" y="8436359"/>
            <a:ext cx="199139" cy="199139"/>
            <a:chOff x="0" y="0"/>
            <a:chExt cx="265519" cy="265519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67" id="167"/>
          <p:cNvGrpSpPr/>
          <p:nvPr/>
        </p:nvGrpSpPr>
        <p:grpSpPr>
          <a:xfrm rot="0">
            <a:off x="4888487" y="8436359"/>
            <a:ext cx="199139" cy="199139"/>
            <a:chOff x="0" y="0"/>
            <a:chExt cx="265519" cy="265519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69" id="169"/>
          <p:cNvGrpSpPr/>
          <p:nvPr/>
        </p:nvGrpSpPr>
        <p:grpSpPr>
          <a:xfrm rot="0">
            <a:off x="5129889" y="8436359"/>
            <a:ext cx="199139" cy="199139"/>
            <a:chOff x="0" y="0"/>
            <a:chExt cx="265519" cy="265519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71" id="171"/>
          <p:cNvGrpSpPr/>
          <p:nvPr/>
        </p:nvGrpSpPr>
        <p:grpSpPr>
          <a:xfrm rot="0">
            <a:off x="5371290" y="8436359"/>
            <a:ext cx="199139" cy="199139"/>
            <a:chOff x="0" y="0"/>
            <a:chExt cx="265519" cy="265519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73" id="173"/>
          <p:cNvGrpSpPr/>
          <p:nvPr/>
        </p:nvGrpSpPr>
        <p:grpSpPr>
          <a:xfrm rot="0">
            <a:off x="5612692" y="8436359"/>
            <a:ext cx="199139" cy="199139"/>
            <a:chOff x="0" y="0"/>
            <a:chExt cx="265519" cy="265519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75" id="175"/>
          <p:cNvGrpSpPr/>
          <p:nvPr/>
        </p:nvGrpSpPr>
        <p:grpSpPr>
          <a:xfrm rot="0">
            <a:off x="5854094" y="8436359"/>
            <a:ext cx="199139" cy="199139"/>
            <a:chOff x="0" y="0"/>
            <a:chExt cx="265519" cy="265519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265557" cy="265557"/>
            </a:xfrm>
            <a:custGeom>
              <a:avLst/>
              <a:gdLst/>
              <a:ahLst/>
              <a:cxnLst/>
              <a:rect r="r" b="b" t="t" l="l"/>
              <a:pathLst>
                <a:path h="265557" w="265557">
                  <a:moveTo>
                    <a:pt x="0" y="132715"/>
                  </a:moveTo>
                  <a:cubicBezTo>
                    <a:pt x="0" y="59436"/>
                    <a:pt x="59436" y="0"/>
                    <a:pt x="132715" y="0"/>
                  </a:cubicBezTo>
                  <a:cubicBezTo>
                    <a:pt x="205994" y="0"/>
                    <a:pt x="265557" y="59436"/>
                    <a:pt x="265557" y="132715"/>
                  </a:cubicBezTo>
                  <a:cubicBezTo>
                    <a:pt x="265557" y="205994"/>
                    <a:pt x="206121" y="265557"/>
                    <a:pt x="132715" y="265557"/>
                  </a:cubicBezTo>
                  <a:cubicBezTo>
                    <a:pt x="59309" y="265557"/>
                    <a:pt x="0" y="206121"/>
                    <a:pt x="0" y="132715"/>
                  </a:cubicBezTo>
                  <a:close/>
                </a:path>
              </a:pathLst>
            </a:custGeom>
            <a:solidFill>
              <a:srgbClr val="E6D5BF"/>
            </a:solidFill>
            <a:ln w="2540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177" id="177"/>
          <p:cNvGrpSpPr/>
          <p:nvPr/>
        </p:nvGrpSpPr>
        <p:grpSpPr>
          <a:xfrm rot="0">
            <a:off x="6492240" y="7680960"/>
            <a:ext cx="4023360" cy="1554480"/>
            <a:chOff x="0" y="0"/>
            <a:chExt cx="5364480" cy="207264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5364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1" r="0" b="-431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38100"/>
              <a:ext cx="536448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60-txn burst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BC6B4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exactly 3 alerts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hard-capped in QA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10871835" y="7579995"/>
            <a:ext cx="6511290" cy="1756410"/>
            <a:chOff x="0" y="0"/>
            <a:chExt cx="8681720" cy="234188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8681720" cy="2341880"/>
            </a:xfrm>
            <a:custGeom>
              <a:avLst/>
              <a:gdLst/>
              <a:ahLst/>
              <a:cxnLst/>
              <a:rect r="r" b="b" t="t" l="l"/>
              <a:pathLst>
                <a:path h="2341880" w="868172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8484489" y="0"/>
                  </a:lnTo>
                  <a:cubicBezTo>
                    <a:pt x="8593455" y="0"/>
                    <a:pt x="8681720" y="88265"/>
                    <a:pt x="8681720" y="197231"/>
                  </a:cubicBezTo>
                  <a:lnTo>
                    <a:pt x="8681720" y="2144649"/>
                  </a:lnTo>
                  <a:cubicBezTo>
                    <a:pt x="8681720" y="2253615"/>
                    <a:pt x="8593455" y="2341880"/>
                    <a:pt x="8484489" y="2341880"/>
                  </a:cubicBezTo>
                  <a:lnTo>
                    <a:pt x="197231" y="2341880"/>
                  </a:lnTo>
                  <a:cubicBezTo>
                    <a:pt x="88265" y="2341880"/>
                    <a:pt x="0" y="2253615"/>
                    <a:pt x="0" y="21446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182" id="182"/>
          <p:cNvGrpSpPr/>
          <p:nvPr/>
        </p:nvGrpSpPr>
        <p:grpSpPr>
          <a:xfrm rot="0">
            <a:off x="11088119" y="7759703"/>
            <a:ext cx="574043" cy="574043"/>
            <a:chOff x="0" y="0"/>
            <a:chExt cx="765391" cy="765391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765429" cy="765429"/>
            </a:xfrm>
            <a:custGeom>
              <a:avLst/>
              <a:gdLst/>
              <a:ahLst/>
              <a:cxnLst/>
              <a:rect r="r" b="b" t="t" l="l"/>
              <a:pathLst>
                <a:path h="765429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cubicBezTo>
                    <a:pt x="593979" y="0"/>
                    <a:pt x="765429" y="171323"/>
                    <a:pt x="765429" y="382651"/>
                  </a:cubicBezTo>
                  <a:cubicBezTo>
                    <a:pt x="765429" y="593979"/>
                    <a:pt x="594106" y="765429"/>
                    <a:pt x="382651" y="765429"/>
                  </a:cubicBezTo>
                  <a:cubicBezTo>
                    <a:pt x="171196" y="765429"/>
                    <a:pt x="0" y="594106"/>
                    <a:pt x="0" y="382651"/>
                  </a:cubicBezTo>
                  <a:close/>
                </a:path>
              </a:pathLst>
            </a:custGeom>
            <a:solidFill>
              <a:srgbClr val="5F7A5C"/>
            </a:solidFill>
            <a:ln w="25400" cap="sq">
              <a:solidFill>
                <a:srgbClr val="5F7A5C"/>
              </a:solidFill>
              <a:prstDash val="solid"/>
              <a:miter/>
            </a:ln>
          </p:spPr>
        </p:sp>
      </p:grpSp>
      <p:grpSp>
        <p:nvGrpSpPr>
          <p:cNvPr name="Group 184" id="184"/>
          <p:cNvGrpSpPr/>
          <p:nvPr/>
        </p:nvGrpSpPr>
        <p:grpSpPr>
          <a:xfrm rot="0">
            <a:off x="11237976" y="7909560"/>
            <a:ext cx="274320" cy="274320"/>
            <a:chOff x="0" y="0"/>
            <a:chExt cx="365760" cy="365760"/>
          </a:xfrm>
        </p:grpSpPr>
        <p:sp>
          <p:nvSpPr>
            <p:cNvPr name="Freeform 185" id="185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6" id="186"/>
          <p:cNvGrpSpPr/>
          <p:nvPr/>
        </p:nvGrpSpPr>
        <p:grpSpPr>
          <a:xfrm rot="0">
            <a:off x="11832336" y="7717536"/>
            <a:ext cx="5394960" cy="658368"/>
            <a:chOff x="0" y="0"/>
            <a:chExt cx="7193280" cy="877824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7193280" cy="877824"/>
            </a:xfrm>
            <a:custGeom>
              <a:avLst/>
              <a:gdLst/>
              <a:ahLst/>
              <a:cxnLst/>
              <a:rect r="r" b="b" t="t" l="l"/>
              <a:pathLst>
                <a:path h="877824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669" r="0" b="-109669"/>
              </a:stretch>
            </a:blipFill>
          </p:spPr>
        </p:sp>
        <p:sp>
          <p:nvSpPr>
            <p:cNvPr name="TextBox 188" id="188"/>
            <p:cNvSpPr txBox="true"/>
            <p:nvPr/>
          </p:nvSpPr>
          <p:spPr>
            <a:xfrm>
              <a:off x="0" y="-38100"/>
              <a:ext cx="71932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Leakage cleared  </a:t>
              </a:r>
              <a:r>
                <a:rPr lang="en-US" sz="1899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leakage_report.json + parity re-check</a:t>
              </a:r>
            </a:p>
          </p:txBody>
        </p:sp>
      </p:grpSp>
      <p:grpSp>
        <p:nvGrpSpPr>
          <p:cNvPr name="Group 189" id="189"/>
          <p:cNvGrpSpPr/>
          <p:nvPr/>
        </p:nvGrpSpPr>
        <p:grpSpPr>
          <a:xfrm rot="0">
            <a:off x="11088119" y="8527799"/>
            <a:ext cx="574043" cy="574043"/>
            <a:chOff x="0" y="0"/>
            <a:chExt cx="765391" cy="765391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765429" cy="765429"/>
            </a:xfrm>
            <a:custGeom>
              <a:avLst/>
              <a:gdLst/>
              <a:ahLst/>
              <a:cxnLst/>
              <a:rect r="r" b="b" t="t" l="l"/>
              <a:pathLst>
                <a:path h="765429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cubicBezTo>
                    <a:pt x="593979" y="0"/>
                    <a:pt x="765429" y="171323"/>
                    <a:pt x="765429" y="382651"/>
                  </a:cubicBezTo>
                  <a:cubicBezTo>
                    <a:pt x="765429" y="593979"/>
                    <a:pt x="594106" y="765429"/>
                    <a:pt x="382651" y="765429"/>
                  </a:cubicBezTo>
                  <a:cubicBezTo>
                    <a:pt x="171196" y="765429"/>
                    <a:pt x="0" y="594106"/>
                    <a:pt x="0" y="382651"/>
                  </a:cubicBezTo>
                  <a:close/>
                </a:path>
              </a:pathLst>
            </a:custGeom>
            <a:solidFill>
              <a:srgbClr val="5F7A5C"/>
            </a:solidFill>
            <a:ln w="25400" cap="sq">
              <a:solidFill>
                <a:srgbClr val="5F7A5C"/>
              </a:solidFill>
              <a:prstDash val="solid"/>
              <a:miter/>
            </a:ln>
          </p:spPr>
        </p:sp>
      </p:grpSp>
      <p:grpSp>
        <p:nvGrpSpPr>
          <p:cNvPr name="Group 191" id="191"/>
          <p:cNvGrpSpPr/>
          <p:nvPr/>
        </p:nvGrpSpPr>
        <p:grpSpPr>
          <a:xfrm rot="0">
            <a:off x="11237976" y="8677656"/>
            <a:ext cx="274320" cy="274320"/>
            <a:chOff x="0" y="0"/>
            <a:chExt cx="365760" cy="365760"/>
          </a:xfrm>
        </p:grpSpPr>
        <p:sp>
          <p:nvSpPr>
            <p:cNvPr name="Freeform 192" id="192" descr="preencoded.png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11832336" y="8485632"/>
            <a:ext cx="5394960" cy="658368"/>
            <a:chOff x="0" y="0"/>
            <a:chExt cx="7193280" cy="877824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7193280" cy="877824"/>
            </a:xfrm>
            <a:custGeom>
              <a:avLst/>
              <a:gdLst/>
              <a:ahLst/>
              <a:cxnLst/>
              <a:rect r="r" b="b" t="t" l="l"/>
              <a:pathLst>
                <a:path h="877824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669" r="0" b="-109669"/>
              </a:stretch>
            </a:blipFill>
          </p:spPr>
        </p:sp>
        <p:sp>
          <p:nvSpPr>
            <p:cNvPr name="TextBox 195" id="195"/>
            <p:cNvSpPr txBox="true"/>
            <p:nvPr/>
          </p:nvSpPr>
          <p:spPr>
            <a:xfrm>
              <a:off x="0" y="-38100"/>
              <a:ext cx="71932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243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Proven on IEEE-CIS  </a:t>
              </a:r>
              <a:r>
                <a:rPr lang="en-US" sz="1899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300k rows, LightGBM, all 10 stages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475488"/>
            <a:chOff x="0" y="0"/>
            <a:chExt cx="21945600" cy="633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945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599">
                  <a:solidFill>
                    <a:srgbClr val="2E8B8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  <a:r>
                <a:rPr lang="en-US" b="true" sz="2100" spc="599">
                  <a:solidFill>
                    <a:srgbClr val="2E8B8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·  TAKEAWAYS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1051179"/>
            <a:ext cx="1645920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true">
                <a:solidFill>
                  <a:srgbClr val="24313A"/>
                </a:solidFill>
                <a:latin typeface="Georgia Bold"/>
                <a:ea typeface="Georgia Bold"/>
                <a:cs typeface="Georgia Bold"/>
                <a:sym typeface="Georgia Bold"/>
              </a:rPr>
              <a:t>Why this holds up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108711"/>
            <a:ext cx="1122683" cy="98555"/>
            <a:chOff x="0" y="0"/>
            <a:chExt cx="149691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96949" cy="131445"/>
            </a:xfrm>
            <a:custGeom>
              <a:avLst/>
              <a:gdLst/>
              <a:ahLst/>
              <a:cxnLst/>
              <a:rect r="r" b="b" t="t" l="l"/>
              <a:pathLst>
                <a:path h="131445" w="1496949">
                  <a:moveTo>
                    <a:pt x="0" y="0"/>
                  </a:moveTo>
                  <a:lnTo>
                    <a:pt x="1496949" y="0"/>
                  </a:lnTo>
                  <a:lnTo>
                    <a:pt x="149694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9656064"/>
            <a:ext cx="5486400" cy="365760"/>
            <a:chOff x="0" y="0"/>
            <a:chExt cx="7315200" cy="487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E7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NOOB CODERS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4875" y="2642235"/>
            <a:ext cx="9894570" cy="1701546"/>
            <a:chOff x="0" y="0"/>
            <a:chExt cx="13192760" cy="22687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92761" cy="2268728"/>
            </a:xfrm>
            <a:custGeom>
              <a:avLst/>
              <a:gdLst/>
              <a:ahLst/>
              <a:cxnLst/>
              <a:rect r="r" b="b" t="t" l="l"/>
              <a:pathLst>
                <a:path h="2268728" w="13192761">
                  <a:moveTo>
                    <a:pt x="0" y="197231"/>
                  </a:moveTo>
                  <a:cubicBezTo>
                    <a:pt x="0" y="88392"/>
                    <a:pt x="88392" y="0"/>
                    <a:pt x="197231" y="0"/>
                  </a:cubicBezTo>
                  <a:lnTo>
                    <a:pt x="12995529" y="0"/>
                  </a:lnTo>
                  <a:cubicBezTo>
                    <a:pt x="13104495" y="0"/>
                    <a:pt x="13192761" y="88392"/>
                    <a:pt x="13192761" y="197231"/>
                  </a:cubicBezTo>
                  <a:lnTo>
                    <a:pt x="13192761" y="2071497"/>
                  </a:lnTo>
                  <a:cubicBezTo>
                    <a:pt x="13192761" y="2180463"/>
                    <a:pt x="13104368" y="2268728"/>
                    <a:pt x="12995529" y="2268728"/>
                  </a:cubicBezTo>
                  <a:lnTo>
                    <a:pt x="197231" y="2268728"/>
                  </a:lnTo>
                  <a:cubicBezTo>
                    <a:pt x="88392" y="2268728"/>
                    <a:pt x="0" y="2180336"/>
                    <a:pt x="0" y="20714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30887" y="2931671"/>
            <a:ext cx="1122683" cy="1122683"/>
            <a:chOff x="0" y="0"/>
            <a:chExt cx="1496911" cy="14969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517904" y="3218688"/>
            <a:ext cx="548640" cy="548640"/>
            <a:chOff x="0" y="0"/>
            <a:chExt cx="731520" cy="73152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651760" y="2651760"/>
            <a:ext cx="7955280" cy="1682496"/>
            <a:chOff x="0" y="0"/>
            <a:chExt cx="10607040" cy="22433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07040" cy="2243328"/>
            </a:xfrm>
            <a:custGeom>
              <a:avLst/>
              <a:gdLst/>
              <a:ahLst/>
              <a:cxnLst/>
              <a:rect r="r" b="b" t="t" l="l"/>
              <a:pathLst>
                <a:path h="224332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30" r="0" b="-4213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0607040" cy="22528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431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Novel ≠ fraud, enforced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452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Both signals are required before anything escalates.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4875" y="4562475"/>
            <a:ext cx="9894570" cy="1701546"/>
            <a:chOff x="0" y="0"/>
            <a:chExt cx="13192760" cy="22687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192761" cy="2268728"/>
            </a:xfrm>
            <a:custGeom>
              <a:avLst/>
              <a:gdLst/>
              <a:ahLst/>
              <a:cxnLst/>
              <a:rect r="r" b="b" t="t" l="l"/>
              <a:pathLst>
                <a:path h="2268728" w="13192761">
                  <a:moveTo>
                    <a:pt x="0" y="197231"/>
                  </a:moveTo>
                  <a:cubicBezTo>
                    <a:pt x="0" y="88392"/>
                    <a:pt x="88392" y="0"/>
                    <a:pt x="197231" y="0"/>
                  </a:cubicBezTo>
                  <a:lnTo>
                    <a:pt x="12995529" y="0"/>
                  </a:lnTo>
                  <a:cubicBezTo>
                    <a:pt x="13104495" y="0"/>
                    <a:pt x="13192761" y="88392"/>
                    <a:pt x="13192761" y="197231"/>
                  </a:cubicBezTo>
                  <a:lnTo>
                    <a:pt x="13192761" y="2071497"/>
                  </a:lnTo>
                  <a:cubicBezTo>
                    <a:pt x="13192761" y="2180463"/>
                    <a:pt x="13104368" y="2268728"/>
                    <a:pt x="12995529" y="2268728"/>
                  </a:cubicBezTo>
                  <a:lnTo>
                    <a:pt x="197231" y="2268728"/>
                  </a:lnTo>
                  <a:cubicBezTo>
                    <a:pt x="88392" y="2268728"/>
                    <a:pt x="0" y="2180336"/>
                    <a:pt x="0" y="20714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30887" y="4851911"/>
            <a:ext cx="1122683" cy="1122683"/>
            <a:chOff x="0" y="0"/>
            <a:chExt cx="1496911" cy="14969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5F7A5C"/>
            </a:solidFill>
            <a:ln w="25400" cap="sq">
              <a:solidFill>
                <a:srgbClr val="5F7A5C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517904" y="5138928"/>
            <a:ext cx="548640" cy="548640"/>
            <a:chOff x="0" y="0"/>
            <a:chExt cx="731520" cy="73152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651760" y="4572000"/>
            <a:ext cx="7955280" cy="1682496"/>
            <a:chOff x="0" y="0"/>
            <a:chExt cx="10607040" cy="22433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07040" cy="2243328"/>
            </a:xfrm>
            <a:custGeom>
              <a:avLst/>
              <a:gdLst/>
              <a:ahLst/>
              <a:cxnLst/>
              <a:rect r="r" b="b" t="t" l="l"/>
              <a:pathLst>
                <a:path h="224332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30" r="0" b="-4213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0607040" cy="22528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431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Leakage-safe by construction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452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9-stage training, 18/18 QA checks, zero leakage reported.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4875" y="6482715"/>
            <a:ext cx="9894570" cy="1701546"/>
            <a:chOff x="0" y="0"/>
            <a:chExt cx="13192760" cy="22687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192761" cy="2268728"/>
            </a:xfrm>
            <a:custGeom>
              <a:avLst/>
              <a:gdLst/>
              <a:ahLst/>
              <a:cxnLst/>
              <a:rect r="r" b="b" t="t" l="l"/>
              <a:pathLst>
                <a:path h="2268728" w="13192761">
                  <a:moveTo>
                    <a:pt x="0" y="197231"/>
                  </a:moveTo>
                  <a:cubicBezTo>
                    <a:pt x="0" y="88392"/>
                    <a:pt x="88392" y="0"/>
                    <a:pt x="197231" y="0"/>
                  </a:cubicBezTo>
                  <a:lnTo>
                    <a:pt x="12995529" y="0"/>
                  </a:lnTo>
                  <a:cubicBezTo>
                    <a:pt x="13104495" y="0"/>
                    <a:pt x="13192761" y="88392"/>
                    <a:pt x="13192761" y="197231"/>
                  </a:cubicBezTo>
                  <a:lnTo>
                    <a:pt x="13192761" y="2071497"/>
                  </a:lnTo>
                  <a:cubicBezTo>
                    <a:pt x="13192761" y="2180463"/>
                    <a:pt x="13104368" y="2268728"/>
                    <a:pt x="12995529" y="2268728"/>
                  </a:cubicBezTo>
                  <a:lnTo>
                    <a:pt x="197231" y="2268728"/>
                  </a:lnTo>
                  <a:cubicBezTo>
                    <a:pt x="88392" y="2268728"/>
                    <a:pt x="0" y="2180336"/>
                    <a:pt x="0" y="20714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30887" y="6772151"/>
            <a:ext cx="1122683" cy="1122683"/>
            <a:chOff x="0" y="0"/>
            <a:chExt cx="1496911" cy="14969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C79A5B"/>
            </a:solidFill>
            <a:ln w="25400" cap="sq">
              <a:solidFill>
                <a:srgbClr val="C79A5B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517904" y="7059168"/>
            <a:ext cx="548640" cy="548640"/>
            <a:chOff x="0" y="0"/>
            <a:chExt cx="731520" cy="73152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651760" y="6492240"/>
            <a:ext cx="7955280" cy="1682496"/>
            <a:chOff x="0" y="0"/>
            <a:chExt cx="10607040" cy="22433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07040" cy="2243328"/>
            </a:xfrm>
            <a:custGeom>
              <a:avLst/>
              <a:gdLst/>
              <a:ahLst/>
              <a:cxnLst/>
              <a:rect r="r" b="b" t="t" l="l"/>
              <a:pathLst>
                <a:path h="224332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30" r="0" b="-4213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607040" cy="22528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431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Usable, explainable alerts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452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Budget-capped volume and plain-language factors on every call.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237595" y="2642235"/>
            <a:ext cx="6145530" cy="5450586"/>
            <a:chOff x="0" y="0"/>
            <a:chExt cx="8194040" cy="72674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94040" cy="7267448"/>
            </a:xfrm>
            <a:custGeom>
              <a:avLst/>
              <a:gdLst/>
              <a:ahLst/>
              <a:cxnLst/>
              <a:rect r="r" b="b" t="t" l="l"/>
              <a:pathLst>
                <a:path h="7267448" w="8194040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7998206" y="0"/>
                  </a:lnTo>
                  <a:cubicBezTo>
                    <a:pt x="8106283" y="0"/>
                    <a:pt x="8194040" y="87630"/>
                    <a:pt x="8194040" y="195834"/>
                  </a:cubicBezTo>
                  <a:lnTo>
                    <a:pt x="8194040" y="7071614"/>
                  </a:lnTo>
                  <a:cubicBezTo>
                    <a:pt x="8194040" y="7179691"/>
                    <a:pt x="8106411" y="7267448"/>
                    <a:pt x="7998206" y="7267448"/>
                  </a:cubicBezTo>
                  <a:lnTo>
                    <a:pt x="195834" y="7267448"/>
                  </a:lnTo>
                  <a:cubicBezTo>
                    <a:pt x="87630" y="7267448"/>
                    <a:pt x="0" y="7179818"/>
                    <a:pt x="0" y="7071614"/>
                  </a:cubicBezTo>
                  <a:close/>
                </a:path>
              </a:pathLst>
            </a:custGeom>
            <a:solidFill>
              <a:srgbClr val="F8F1E7"/>
            </a:solidFill>
            <a:ln w="19050" cap="sq">
              <a:solidFill>
                <a:srgbClr val="E6D5B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612880" y="2926080"/>
            <a:ext cx="5486400" cy="365760"/>
            <a:chOff x="0" y="0"/>
            <a:chExt cx="7315200" cy="4876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b="true" sz="1899" spc="399">
                  <a:solidFill>
                    <a:srgbClr val="6E7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HONEST LIMITS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1612880" y="3518535"/>
            <a:ext cx="5486400" cy="297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243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Synthetic results</a:t>
            </a:r>
            <a:r>
              <a:rPr lang="en-US" sz="2499">
                <a:solidFill>
                  <a:srgbClr val="44525A"/>
                </a:solidFill>
                <a:latin typeface="Calibri (MS)"/>
                <a:ea typeface="Calibri (MS)"/>
                <a:cs typeface="Calibri (MS)"/>
                <a:sym typeface="Calibri (MS)"/>
              </a:rPr>
              <a:t> are illustrative, not a benchmark.</a:t>
            </a:r>
          </a:p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243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 IEEE-CIS data</a:t>
            </a:r>
            <a:r>
              <a:rPr lang="en-US" sz="2499">
                <a:solidFill>
                  <a:srgbClr val="44525A"/>
                </a:solidFill>
                <a:latin typeface="Calibri (MS)"/>
                <a:ea typeface="Calibri (MS)"/>
                <a:cs typeface="Calibri (MS)"/>
                <a:sym typeface="Calibri (MS)"/>
              </a:rPr>
              <a:t> gives ROC-AUC 0.716: a hard dataset.</a:t>
            </a:r>
          </a:p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243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Explanations</a:t>
            </a:r>
            <a:r>
              <a:rPr lang="en-US" sz="2499">
                <a:solidFill>
                  <a:srgbClr val="44525A"/>
                </a:solidFill>
                <a:latin typeface="Calibri (MS)"/>
                <a:ea typeface="Calibri (MS)"/>
                <a:cs typeface="Calibri (MS)"/>
                <a:sym typeface="Calibri (MS)"/>
              </a:rPr>
              <a:t> show contribution, never causation.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5989303" y="6607559"/>
            <a:ext cx="1122683" cy="1122683"/>
            <a:chOff x="0" y="0"/>
            <a:chExt cx="1496911" cy="14969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C79A5B"/>
            </a:solidFill>
            <a:ln w="25400" cap="sq">
              <a:solidFill>
                <a:srgbClr val="C79A5B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6276320" y="6894576"/>
            <a:ext cx="548640" cy="548640"/>
            <a:chOff x="0" y="0"/>
            <a:chExt cx="731520" cy="73152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01703" y="8399783"/>
            <a:ext cx="16484603" cy="1031243"/>
            <a:chOff x="0" y="0"/>
            <a:chExt cx="21979471" cy="137499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79637" cy="1375156"/>
            </a:xfrm>
            <a:custGeom>
              <a:avLst/>
              <a:gdLst/>
              <a:ahLst/>
              <a:cxnLst/>
              <a:rect r="r" b="b" t="t" l="l"/>
              <a:pathLst>
                <a:path h="1375156" w="21979637">
                  <a:moveTo>
                    <a:pt x="0" y="250063"/>
                  </a:moveTo>
                  <a:cubicBezTo>
                    <a:pt x="0" y="111887"/>
                    <a:pt x="111887" y="0"/>
                    <a:pt x="250063" y="0"/>
                  </a:cubicBezTo>
                  <a:lnTo>
                    <a:pt x="21729573" y="0"/>
                  </a:lnTo>
                  <a:cubicBezTo>
                    <a:pt x="21867623" y="0"/>
                    <a:pt x="21979637" y="111887"/>
                    <a:pt x="21979637" y="250063"/>
                  </a:cubicBezTo>
                  <a:lnTo>
                    <a:pt x="21979637" y="1125093"/>
                  </a:lnTo>
                  <a:cubicBezTo>
                    <a:pt x="21979637" y="1263142"/>
                    <a:pt x="21867749" y="1375156"/>
                    <a:pt x="21729573" y="1375156"/>
                  </a:cubicBezTo>
                  <a:lnTo>
                    <a:pt x="250063" y="1375156"/>
                  </a:lnTo>
                  <a:cubicBezTo>
                    <a:pt x="111887" y="1375029"/>
                    <a:pt x="0" y="1263015"/>
                    <a:pt x="0" y="1124966"/>
                  </a:cubicBezTo>
                  <a:close/>
                </a:path>
              </a:pathLst>
            </a:custGeom>
            <a:solidFill>
              <a:srgbClr val="2E8B83"/>
            </a:solidFill>
            <a:ln w="25400" cap="sq">
              <a:solidFill>
                <a:srgbClr val="2E8B83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463040" y="8412480"/>
            <a:ext cx="9144000" cy="1005840"/>
            <a:chOff x="0" y="0"/>
            <a:chExt cx="12192000" cy="1341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1920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219200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Thank you  </a:t>
              </a:r>
              <a:r>
                <a:rPr lang="en-US" sz="3200" i="true">
                  <a:solidFill>
                    <a:srgbClr val="D9EEEB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·  Questions?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887200" y="8412480"/>
            <a:ext cx="5120640" cy="1005840"/>
            <a:chOff x="0" y="0"/>
            <a:chExt cx="6827520" cy="1341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27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8275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NOOB CODERS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Abstract background of node and mesh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848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36479" y="3652281"/>
            <a:ext cx="9482584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FFD21F"/>
                </a:solidFill>
                <a:latin typeface="Arimo Bold"/>
                <a:ea typeface="Arimo Bold"/>
                <a:cs typeface="Arimo Bold"/>
                <a:sym typeface="Arimo Bold"/>
              </a:rPr>
              <a:t>THANK YOU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24841" y="7839075"/>
            <a:ext cx="5434459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FD2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NOOB CODERS  :-  VANSHIKA SHARMA</a:t>
            </a:r>
          </a:p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FD2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                              DHRUV NAILWAL</a:t>
            </a:r>
          </a:p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FD2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                              MAYANK TIWARI</a:t>
            </a:r>
          </a:p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300">
                <a:solidFill>
                  <a:srgbClr val="FFD2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                JAHNAVI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DAHVuN1UzKU</dc:identifier>
  <dcterms:modified xsi:type="dcterms:W3CDTF">2011-08-01T06:04:30Z</dcterms:modified>
  <cp:revision>1</cp:revision>
  <dc:title>WIN IF YOU CAN HACKATHON</dc:title>
</cp:coreProperties>
</file>